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nva Sans" panose="020B0604020202020204" charset="0"/>
      <p:regular r:id="rId13"/>
    </p:embeddedFont>
    <p:embeddedFont>
      <p:font typeface="Montserrat" panose="00000500000000000000" pitchFamily="2" charset="0"/>
      <p:regular r:id="rId14"/>
      <p:bold r:id="rId15"/>
      <p:italic r:id="rId16"/>
      <p:boldItalic r:id="rId17"/>
    </p:embeddedFont>
    <p:embeddedFont>
      <p:font typeface="RoxboroughCF" panose="020B0604020202020204" charset="0"/>
      <p:regular r:id="rId18"/>
    </p:embeddedFont>
    <p:embeddedFont>
      <p:font typeface="RoxboroughCF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70" dt="2026-09-29T18:23:55.8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fahim-cs.github.io/TRANZ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A97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1688845" y="6535257"/>
            <a:ext cx="5847251" cy="584725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07A648">
                      <a:alpha val="7000"/>
                    </a:srgbClr>
                  </a:gs>
                  <a:gs pos="100000">
                    <a:srgbClr val="007666">
                      <a:alpha val="7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576518" y="414433"/>
            <a:ext cx="4378875" cy="4378875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C19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783319" y="4942416"/>
            <a:ext cx="3447531" cy="344753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C1D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11817057" y="1277708"/>
            <a:ext cx="4379313" cy="8999780"/>
            <a:chOff x="0" y="0"/>
            <a:chExt cx="2620010" cy="5184140"/>
          </a:xfrm>
        </p:grpSpPr>
        <p:sp>
          <p:nvSpPr>
            <p:cNvPr id="12" name="Freeform 12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b="-117798"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AFC1D0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AFC1D0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3F6FA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0988128" y="7752843"/>
            <a:ext cx="1505457" cy="150545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C1D0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/>
            </a:p>
          </p:txBody>
        </p:sp>
      </p:grpSp>
      <p:sp>
        <p:nvSpPr>
          <p:cNvPr id="24" name="AutoShape 24"/>
          <p:cNvSpPr/>
          <p:nvPr/>
        </p:nvSpPr>
        <p:spPr>
          <a:xfrm>
            <a:off x="846905" y="5698737"/>
            <a:ext cx="6686308" cy="0"/>
          </a:xfrm>
          <a:prstGeom prst="line">
            <a:avLst/>
          </a:prstGeom>
          <a:ln w="38100" cap="flat">
            <a:solidFill>
              <a:srgbClr val="AFC1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Freeform 25"/>
          <p:cNvSpPr/>
          <p:nvPr/>
        </p:nvSpPr>
        <p:spPr>
          <a:xfrm>
            <a:off x="10373873" y="8389947"/>
            <a:ext cx="1472090" cy="243564"/>
          </a:xfrm>
          <a:custGeom>
            <a:avLst/>
            <a:gdLst/>
            <a:ahLst/>
            <a:cxnLst/>
            <a:rect l="l" t="t" r="r" b="b"/>
            <a:pathLst>
              <a:path w="1472090" h="243564">
                <a:moveTo>
                  <a:pt x="0" y="0"/>
                </a:moveTo>
                <a:lnTo>
                  <a:pt x="1472090" y="0"/>
                </a:lnTo>
                <a:lnTo>
                  <a:pt x="1472090" y="243564"/>
                </a:lnTo>
                <a:lnTo>
                  <a:pt x="0" y="2435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0119698" y="891327"/>
            <a:ext cx="1011682" cy="1178087"/>
          </a:xfrm>
          <a:custGeom>
            <a:avLst/>
            <a:gdLst/>
            <a:ahLst/>
            <a:cxnLst/>
            <a:rect l="l" t="t" r="r" b="b"/>
            <a:pathLst>
              <a:path w="1011682" h="1178087">
                <a:moveTo>
                  <a:pt x="0" y="0"/>
                </a:moveTo>
                <a:lnTo>
                  <a:pt x="1011683" y="0"/>
                </a:lnTo>
                <a:lnTo>
                  <a:pt x="1011683" y="1178087"/>
                </a:lnTo>
                <a:lnTo>
                  <a:pt x="0" y="11780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-288624" y="2069414"/>
            <a:ext cx="2213909" cy="3320864"/>
          </a:xfrm>
          <a:custGeom>
            <a:avLst/>
            <a:gdLst/>
            <a:ahLst/>
            <a:cxnLst/>
            <a:rect l="l" t="t" r="r" b="b"/>
            <a:pathLst>
              <a:path w="2213909" h="3320864">
                <a:moveTo>
                  <a:pt x="0" y="0"/>
                </a:moveTo>
                <a:lnTo>
                  <a:pt x="2213909" y="0"/>
                </a:lnTo>
                <a:lnTo>
                  <a:pt x="2213909" y="3320864"/>
                </a:lnTo>
                <a:lnTo>
                  <a:pt x="0" y="33208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818330" y="3924130"/>
            <a:ext cx="8234560" cy="1517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367"/>
              </a:lnSpc>
            </a:pPr>
            <a:r>
              <a:rPr lang="en-US" sz="11367" spc="-227">
                <a:solidFill>
                  <a:srgbClr val="F3F6FA"/>
                </a:solidFill>
                <a:latin typeface="RoxboroughCF"/>
                <a:ea typeface="RoxboroughCF"/>
                <a:cs typeface="RoxboroughCF"/>
                <a:sym typeface="RoxboroughCF"/>
              </a:rPr>
              <a:t>TRANZO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387420" y="1067425"/>
            <a:ext cx="3805659" cy="412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sz="2491" spc="398">
                <a:solidFill>
                  <a:srgbClr val="F3F6FA"/>
                </a:solidFill>
                <a:latin typeface="Montserrat"/>
                <a:ea typeface="Montserrat"/>
                <a:cs typeface="Montserrat"/>
                <a:sym typeface="Montserrat"/>
              </a:rPr>
              <a:t>KTMS MAVERICKS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46905" y="5855433"/>
            <a:ext cx="8504917" cy="314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856" spc="297">
                <a:solidFill>
                  <a:srgbClr val="F3F6FA"/>
                </a:solidFill>
                <a:latin typeface="Montserrat"/>
                <a:ea typeface="Montserrat"/>
                <a:cs typeface="Montserrat"/>
                <a:sym typeface="Montserrat"/>
              </a:rPr>
              <a:t>SMART MOBILE FINANCIAL TRANSACTION SYSTEM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68722" y="7082523"/>
            <a:ext cx="6771451" cy="242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2749"/>
              </a:lnSpc>
              <a:buFont typeface="Arial"/>
              <a:buChar char="•"/>
            </a:pPr>
            <a:r>
              <a:rPr lang="en-US" sz="2499">
                <a:solidFill>
                  <a:srgbClr val="F3F6FA"/>
                </a:solidFill>
                <a:latin typeface="RoxboroughCF"/>
                <a:ea typeface="RoxboroughCF"/>
                <a:cs typeface="RoxboroughCF"/>
                <a:sym typeface="RoxboroughCF"/>
              </a:rPr>
              <a:t>Mahadi Hasan Fahim 2023100000581</a:t>
            </a:r>
          </a:p>
          <a:p>
            <a:pPr algn="l">
              <a:lnSpc>
                <a:spcPts val="2749"/>
              </a:lnSpc>
            </a:pPr>
            <a:endParaRPr lang="en-US" sz="2499">
              <a:solidFill>
                <a:srgbClr val="F3F6FA"/>
              </a:solidFill>
              <a:latin typeface="RoxboroughCF"/>
              <a:ea typeface="RoxboroughCF"/>
              <a:cs typeface="RoxboroughCF"/>
              <a:sym typeface="RoxboroughCF"/>
            </a:endParaRPr>
          </a:p>
          <a:p>
            <a:pPr marL="539749" lvl="1" indent="-269875" algn="l">
              <a:lnSpc>
                <a:spcPts val="2749"/>
              </a:lnSpc>
              <a:buFont typeface="Arial"/>
              <a:buChar char="•"/>
            </a:pPr>
            <a:r>
              <a:rPr lang="en-US" sz="2499">
                <a:solidFill>
                  <a:srgbClr val="F3F6FA"/>
                </a:solidFill>
                <a:latin typeface="RoxboroughCF"/>
                <a:ea typeface="RoxboroughCF"/>
                <a:cs typeface="RoxboroughCF"/>
                <a:sym typeface="RoxboroughCF"/>
              </a:rPr>
              <a:t>Tabashum Islam 2023100000688</a:t>
            </a:r>
          </a:p>
          <a:p>
            <a:pPr algn="l">
              <a:lnSpc>
                <a:spcPts val="2749"/>
              </a:lnSpc>
            </a:pPr>
            <a:endParaRPr lang="en-US" sz="2499">
              <a:solidFill>
                <a:srgbClr val="F3F6FA"/>
              </a:solidFill>
              <a:latin typeface="RoxboroughCF"/>
              <a:ea typeface="RoxboroughCF"/>
              <a:cs typeface="RoxboroughCF"/>
              <a:sym typeface="RoxboroughCF"/>
            </a:endParaRPr>
          </a:p>
          <a:p>
            <a:pPr marL="539749" lvl="1" indent="-269875" algn="l">
              <a:lnSpc>
                <a:spcPts val="2749"/>
              </a:lnSpc>
              <a:buFont typeface="Arial"/>
              <a:buChar char="•"/>
            </a:pPr>
            <a:r>
              <a:rPr lang="en-US" sz="2499">
                <a:solidFill>
                  <a:srgbClr val="F3F6FA"/>
                </a:solidFill>
                <a:latin typeface="RoxboroughCF"/>
                <a:ea typeface="RoxboroughCF"/>
                <a:cs typeface="RoxboroughCF"/>
                <a:sym typeface="RoxboroughCF"/>
              </a:rPr>
              <a:t>Khandokar Mosleh Uddin 2023100000624</a:t>
            </a:r>
          </a:p>
          <a:p>
            <a:pPr algn="l">
              <a:lnSpc>
                <a:spcPts val="2749"/>
              </a:lnSpc>
            </a:pPr>
            <a:endParaRPr lang="en-US" sz="2499">
              <a:solidFill>
                <a:srgbClr val="F3F6FA"/>
              </a:solidFill>
              <a:latin typeface="RoxboroughCF"/>
              <a:ea typeface="RoxboroughCF"/>
              <a:cs typeface="RoxboroughCF"/>
              <a:sym typeface="RoxboroughCF"/>
            </a:endParaRPr>
          </a:p>
          <a:p>
            <a:pPr marL="539749" lvl="1" indent="-269875" algn="l">
              <a:lnSpc>
                <a:spcPts val="2749"/>
              </a:lnSpc>
              <a:buFont typeface="Arial"/>
              <a:buChar char="•"/>
            </a:pPr>
            <a:r>
              <a:rPr lang="en-US" sz="2499">
                <a:solidFill>
                  <a:srgbClr val="F3F6FA"/>
                </a:solidFill>
                <a:latin typeface="RoxboroughCF"/>
                <a:ea typeface="RoxboroughCF"/>
                <a:cs typeface="RoxboroughCF"/>
                <a:sym typeface="RoxboroughCF"/>
              </a:rPr>
              <a:t>Md.Shakil Hossain 2023100000634</a:t>
            </a:r>
          </a:p>
        </p:txBody>
      </p:sp>
      <p:sp>
        <p:nvSpPr>
          <p:cNvPr id="32" name="Freeform 32"/>
          <p:cNvSpPr/>
          <p:nvPr/>
        </p:nvSpPr>
        <p:spPr>
          <a:xfrm>
            <a:off x="1397615" y="528476"/>
            <a:ext cx="1055339" cy="1528944"/>
          </a:xfrm>
          <a:custGeom>
            <a:avLst/>
            <a:gdLst/>
            <a:ahLst/>
            <a:cxnLst/>
            <a:rect l="l" t="t" r="r" b="b"/>
            <a:pathLst>
              <a:path w="1055339" h="1528944">
                <a:moveTo>
                  <a:pt x="0" y="0"/>
                </a:moveTo>
                <a:lnTo>
                  <a:pt x="1055340" y="0"/>
                </a:lnTo>
                <a:lnTo>
                  <a:pt x="1055340" y="1528944"/>
                </a:lnTo>
                <a:lnTo>
                  <a:pt x="0" y="15289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3536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3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46403" y="4049139"/>
            <a:ext cx="3326912" cy="2539139"/>
            <a:chOff x="0" y="0"/>
            <a:chExt cx="876224" cy="6687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6224" cy="668744"/>
            </a:xfrm>
            <a:custGeom>
              <a:avLst/>
              <a:gdLst/>
              <a:ahLst/>
              <a:cxnLst/>
              <a:rect l="l" t="t" r="r" b="b"/>
              <a:pathLst>
                <a:path w="876224" h="668744">
                  <a:moveTo>
                    <a:pt x="118680" y="0"/>
                  </a:moveTo>
                  <a:lnTo>
                    <a:pt x="757544" y="0"/>
                  </a:lnTo>
                  <a:cubicBezTo>
                    <a:pt x="789020" y="0"/>
                    <a:pt x="819206" y="12504"/>
                    <a:pt x="841463" y="34761"/>
                  </a:cubicBezTo>
                  <a:cubicBezTo>
                    <a:pt x="863720" y="57017"/>
                    <a:pt x="876224" y="87204"/>
                    <a:pt x="876224" y="118680"/>
                  </a:cubicBezTo>
                  <a:lnTo>
                    <a:pt x="876224" y="550064"/>
                  </a:lnTo>
                  <a:cubicBezTo>
                    <a:pt x="876224" y="615610"/>
                    <a:pt x="823089" y="668744"/>
                    <a:pt x="757544" y="668744"/>
                  </a:cubicBezTo>
                  <a:lnTo>
                    <a:pt x="118680" y="668744"/>
                  </a:lnTo>
                  <a:cubicBezTo>
                    <a:pt x="87204" y="668744"/>
                    <a:pt x="57017" y="656241"/>
                    <a:pt x="34761" y="633984"/>
                  </a:cubicBezTo>
                  <a:cubicBezTo>
                    <a:pt x="12504" y="611727"/>
                    <a:pt x="0" y="581540"/>
                    <a:pt x="0" y="550064"/>
                  </a:cubicBezTo>
                  <a:lnTo>
                    <a:pt x="0" y="118680"/>
                  </a:lnTo>
                  <a:cubicBezTo>
                    <a:pt x="0" y="53135"/>
                    <a:pt x="53135" y="0"/>
                    <a:pt x="118680" y="0"/>
                  </a:cubicBezTo>
                  <a:close/>
                </a:path>
              </a:pathLst>
            </a:custGeom>
            <a:solidFill>
              <a:srgbClr val="7A977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9525"/>
              <a:ext cx="876224" cy="6592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r>
                <a:rPr lang="en-US" sz="2499">
                  <a:solidFill>
                    <a:srgbClr val="0000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💸 Transactions</a:t>
              </a:r>
            </a:p>
            <a:p>
              <a:pPr algn="ctr">
                <a:lnSpc>
                  <a:spcPts val="2749"/>
                </a:lnSpc>
              </a:pPr>
              <a:endParaRPr lang="en-US" sz="2499">
                <a:solidFill>
                  <a:srgbClr val="000000"/>
                </a:solidFill>
                <a:latin typeface="RoxboroughCF"/>
                <a:ea typeface="RoxboroughCF"/>
                <a:cs typeface="RoxboroughCF"/>
                <a:sym typeface="RoxboroughCF"/>
              </a:endParaRPr>
            </a:p>
            <a:p>
              <a:pPr algn="ctr">
                <a:lnSpc>
                  <a:spcPts val="2749"/>
                </a:lnSpc>
              </a:pPr>
              <a:r>
                <a:rPr lang="en-US" sz="2499">
                  <a:solidFill>
                    <a:srgbClr val="0000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Send, add, transfer and cash out money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864601" y="4049139"/>
            <a:ext cx="3278268" cy="2539139"/>
            <a:chOff x="0" y="0"/>
            <a:chExt cx="863412" cy="6687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63412" cy="668744"/>
            </a:xfrm>
            <a:custGeom>
              <a:avLst/>
              <a:gdLst/>
              <a:ahLst/>
              <a:cxnLst/>
              <a:rect l="l" t="t" r="r" b="b"/>
              <a:pathLst>
                <a:path w="863412" h="668744">
                  <a:moveTo>
                    <a:pt x="120441" y="0"/>
                  </a:moveTo>
                  <a:lnTo>
                    <a:pt x="742971" y="0"/>
                  </a:lnTo>
                  <a:cubicBezTo>
                    <a:pt x="809489" y="0"/>
                    <a:pt x="863412" y="53923"/>
                    <a:pt x="863412" y="120441"/>
                  </a:cubicBezTo>
                  <a:lnTo>
                    <a:pt x="863412" y="548303"/>
                  </a:lnTo>
                  <a:cubicBezTo>
                    <a:pt x="863412" y="580246"/>
                    <a:pt x="850723" y="610881"/>
                    <a:pt x="828136" y="633468"/>
                  </a:cubicBezTo>
                  <a:cubicBezTo>
                    <a:pt x="805549" y="656055"/>
                    <a:pt x="774914" y="668744"/>
                    <a:pt x="742971" y="668744"/>
                  </a:cubicBezTo>
                  <a:lnTo>
                    <a:pt x="120441" y="668744"/>
                  </a:lnTo>
                  <a:cubicBezTo>
                    <a:pt x="88498" y="668744"/>
                    <a:pt x="57863" y="656055"/>
                    <a:pt x="35276" y="633468"/>
                  </a:cubicBezTo>
                  <a:cubicBezTo>
                    <a:pt x="12689" y="610881"/>
                    <a:pt x="0" y="580246"/>
                    <a:pt x="0" y="548303"/>
                  </a:cubicBezTo>
                  <a:lnTo>
                    <a:pt x="0" y="120441"/>
                  </a:lnTo>
                  <a:cubicBezTo>
                    <a:pt x="0" y="53923"/>
                    <a:pt x="53923" y="0"/>
                    <a:pt x="120441" y="0"/>
                  </a:cubicBezTo>
                  <a:close/>
                </a:path>
              </a:pathLst>
            </a:custGeom>
            <a:solidFill>
              <a:srgbClr val="EBB08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9525"/>
              <a:ext cx="863412" cy="6592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r>
                <a:rPr lang="en-US" sz="2499">
                  <a:solidFill>
                    <a:srgbClr val="0000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📊 Expense Tracking</a:t>
              </a:r>
            </a:p>
            <a:p>
              <a:pPr algn="ctr">
                <a:lnSpc>
                  <a:spcPts val="2749"/>
                </a:lnSpc>
              </a:pPr>
              <a:endParaRPr lang="en-US" sz="2499">
                <a:solidFill>
                  <a:srgbClr val="000000"/>
                </a:solidFill>
                <a:latin typeface="RoxboroughCF"/>
                <a:ea typeface="RoxboroughCF"/>
                <a:cs typeface="RoxboroughCF"/>
                <a:sym typeface="RoxboroughCF"/>
              </a:endParaRPr>
            </a:p>
            <a:p>
              <a:pPr algn="ctr">
                <a:lnSpc>
                  <a:spcPts val="2749"/>
                </a:lnSpc>
              </a:pPr>
              <a:r>
                <a:rPr lang="en-US" sz="2499">
                  <a:solidFill>
                    <a:srgbClr val="0000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 Track and understand personal spending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333369" y="4049139"/>
            <a:ext cx="3843431" cy="2539139"/>
            <a:chOff x="0" y="0"/>
            <a:chExt cx="1012262" cy="66874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12262" cy="668744"/>
            </a:xfrm>
            <a:custGeom>
              <a:avLst/>
              <a:gdLst/>
              <a:ahLst/>
              <a:cxnLst/>
              <a:rect l="l" t="t" r="r" b="b"/>
              <a:pathLst>
                <a:path w="1012262" h="668744">
                  <a:moveTo>
                    <a:pt x="102731" y="0"/>
                  </a:moveTo>
                  <a:lnTo>
                    <a:pt x="909531" y="0"/>
                  </a:lnTo>
                  <a:cubicBezTo>
                    <a:pt x="936777" y="0"/>
                    <a:pt x="962907" y="10823"/>
                    <a:pt x="982173" y="30089"/>
                  </a:cubicBezTo>
                  <a:cubicBezTo>
                    <a:pt x="1001438" y="49355"/>
                    <a:pt x="1012262" y="75485"/>
                    <a:pt x="1012262" y="102731"/>
                  </a:cubicBezTo>
                  <a:lnTo>
                    <a:pt x="1012262" y="566014"/>
                  </a:lnTo>
                  <a:cubicBezTo>
                    <a:pt x="1012262" y="593260"/>
                    <a:pt x="1001438" y="619390"/>
                    <a:pt x="982173" y="638655"/>
                  </a:cubicBezTo>
                  <a:cubicBezTo>
                    <a:pt x="962907" y="657921"/>
                    <a:pt x="936777" y="668744"/>
                    <a:pt x="909531" y="668744"/>
                  </a:cubicBezTo>
                  <a:lnTo>
                    <a:pt x="102731" y="668744"/>
                  </a:lnTo>
                  <a:cubicBezTo>
                    <a:pt x="75485" y="668744"/>
                    <a:pt x="49355" y="657921"/>
                    <a:pt x="30089" y="638655"/>
                  </a:cubicBezTo>
                  <a:cubicBezTo>
                    <a:pt x="10823" y="619390"/>
                    <a:pt x="0" y="593260"/>
                    <a:pt x="0" y="566014"/>
                  </a:cubicBezTo>
                  <a:lnTo>
                    <a:pt x="0" y="102731"/>
                  </a:lnTo>
                  <a:cubicBezTo>
                    <a:pt x="0" y="75485"/>
                    <a:pt x="10823" y="49355"/>
                    <a:pt x="30089" y="30089"/>
                  </a:cubicBezTo>
                  <a:cubicBezTo>
                    <a:pt x="49355" y="10823"/>
                    <a:pt x="75485" y="0"/>
                    <a:pt x="10273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1012262" cy="6592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r>
                <a:rPr lang="en-US" sz="2499">
                  <a:solidFill>
                    <a:srgbClr val="0000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📱 Simple Dashboard</a:t>
              </a:r>
            </a:p>
            <a:p>
              <a:pPr algn="ctr">
                <a:lnSpc>
                  <a:spcPts val="2749"/>
                </a:lnSpc>
              </a:pPr>
              <a:endParaRPr lang="en-US" sz="2499">
                <a:solidFill>
                  <a:srgbClr val="000000"/>
                </a:solidFill>
                <a:latin typeface="RoxboroughCF"/>
                <a:ea typeface="RoxboroughCF"/>
                <a:cs typeface="RoxboroughCF"/>
                <a:sym typeface="RoxboroughCF"/>
              </a:endParaRPr>
            </a:p>
            <a:p>
              <a:pPr algn="ctr">
                <a:lnSpc>
                  <a:spcPts val="2749"/>
                </a:lnSpc>
              </a:pPr>
              <a:r>
                <a:rPr lang="en-US" sz="2499">
                  <a:solidFill>
                    <a:srgbClr val="0000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 Access financial activities from one place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867121" y="3839489"/>
            <a:ext cx="5947127" cy="2032812"/>
            <a:chOff x="0" y="0"/>
            <a:chExt cx="1566322" cy="53539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66322" cy="535391"/>
            </a:xfrm>
            <a:custGeom>
              <a:avLst/>
              <a:gdLst/>
              <a:ahLst/>
              <a:cxnLst/>
              <a:rect l="l" t="t" r="r" b="b"/>
              <a:pathLst>
                <a:path w="1566322" h="535391">
                  <a:moveTo>
                    <a:pt x="66391" y="0"/>
                  </a:moveTo>
                  <a:lnTo>
                    <a:pt x="1499930" y="0"/>
                  </a:lnTo>
                  <a:cubicBezTo>
                    <a:pt x="1517538" y="0"/>
                    <a:pt x="1534425" y="6995"/>
                    <a:pt x="1546876" y="19446"/>
                  </a:cubicBezTo>
                  <a:cubicBezTo>
                    <a:pt x="1559327" y="31896"/>
                    <a:pt x="1566322" y="48783"/>
                    <a:pt x="1566322" y="66391"/>
                  </a:cubicBezTo>
                  <a:lnTo>
                    <a:pt x="1566322" y="468999"/>
                  </a:lnTo>
                  <a:cubicBezTo>
                    <a:pt x="1566322" y="486608"/>
                    <a:pt x="1559327" y="503495"/>
                    <a:pt x="1546876" y="515945"/>
                  </a:cubicBezTo>
                  <a:cubicBezTo>
                    <a:pt x="1534425" y="528396"/>
                    <a:pt x="1517538" y="535391"/>
                    <a:pt x="1499930" y="535391"/>
                  </a:cubicBezTo>
                  <a:lnTo>
                    <a:pt x="66391" y="535391"/>
                  </a:lnTo>
                  <a:cubicBezTo>
                    <a:pt x="48783" y="535391"/>
                    <a:pt x="31896" y="528396"/>
                    <a:pt x="19446" y="515945"/>
                  </a:cubicBezTo>
                  <a:cubicBezTo>
                    <a:pt x="6995" y="503495"/>
                    <a:pt x="0" y="486608"/>
                    <a:pt x="0" y="468999"/>
                  </a:cubicBezTo>
                  <a:lnTo>
                    <a:pt x="0" y="66391"/>
                  </a:lnTo>
                  <a:cubicBezTo>
                    <a:pt x="0" y="48783"/>
                    <a:pt x="6995" y="31896"/>
                    <a:pt x="19446" y="19446"/>
                  </a:cubicBezTo>
                  <a:cubicBezTo>
                    <a:pt x="31896" y="6995"/>
                    <a:pt x="48783" y="0"/>
                    <a:pt x="66391" y="0"/>
                  </a:cubicBezTo>
                  <a:close/>
                </a:path>
              </a:pathLst>
            </a:custGeom>
            <a:solidFill>
              <a:srgbClr val="7A9779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1566322" cy="5258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r>
                <a:rPr lang="en-US" sz="2499" b="1">
                  <a:solidFill>
                    <a:srgbClr val="000000"/>
                  </a:solidFill>
                  <a:latin typeface="RoxboroughCF Bold"/>
                  <a:ea typeface="RoxboroughCF Bold"/>
                  <a:cs typeface="RoxboroughCF Bold"/>
                  <a:sym typeface="RoxboroughCF Bold"/>
                </a:rPr>
                <a:t>01 | Scattered Financial Activities</a:t>
              </a:r>
            </a:p>
            <a:p>
              <a:pPr algn="ctr">
                <a:lnSpc>
                  <a:spcPts val="2749"/>
                </a:lnSpc>
              </a:pPr>
              <a:endParaRPr lang="en-US" sz="2499" b="1">
                <a:solidFill>
                  <a:srgbClr val="000000"/>
                </a:solidFill>
                <a:latin typeface="RoxboroughCF Bold"/>
                <a:ea typeface="RoxboroughCF Bold"/>
                <a:cs typeface="RoxboroughCF Bold"/>
                <a:sym typeface="RoxboroughCF Bold"/>
              </a:endParaRPr>
            </a:p>
            <a:p>
              <a:pPr algn="ctr">
                <a:lnSpc>
                  <a:spcPts val="2420"/>
                </a:lnSpc>
              </a:pPr>
              <a:r>
                <a:rPr lang="en-US" sz="2200">
                  <a:solidFill>
                    <a:srgbClr val="0000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Users often manage different financial activities across separate platforms.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867121" y="5948501"/>
            <a:ext cx="5947127" cy="2320290"/>
            <a:chOff x="0" y="0"/>
            <a:chExt cx="1566322" cy="61110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66322" cy="611105"/>
            </a:xfrm>
            <a:custGeom>
              <a:avLst/>
              <a:gdLst/>
              <a:ahLst/>
              <a:cxnLst/>
              <a:rect l="l" t="t" r="r" b="b"/>
              <a:pathLst>
                <a:path w="1566322" h="611105">
                  <a:moveTo>
                    <a:pt x="66391" y="0"/>
                  </a:moveTo>
                  <a:lnTo>
                    <a:pt x="1499930" y="0"/>
                  </a:lnTo>
                  <a:cubicBezTo>
                    <a:pt x="1517538" y="0"/>
                    <a:pt x="1534425" y="6995"/>
                    <a:pt x="1546876" y="19446"/>
                  </a:cubicBezTo>
                  <a:cubicBezTo>
                    <a:pt x="1559327" y="31896"/>
                    <a:pt x="1566322" y="48783"/>
                    <a:pt x="1566322" y="66391"/>
                  </a:cubicBezTo>
                  <a:lnTo>
                    <a:pt x="1566322" y="544714"/>
                  </a:lnTo>
                  <a:cubicBezTo>
                    <a:pt x="1566322" y="581381"/>
                    <a:pt x="1536597" y="611105"/>
                    <a:pt x="1499930" y="611105"/>
                  </a:cubicBezTo>
                  <a:lnTo>
                    <a:pt x="66391" y="611105"/>
                  </a:lnTo>
                  <a:cubicBezTo>
                    <a:pt x="48783" y="611105"/>
                    <a:pt x="31896" y="604110"/>
                    <a:pt x="19446" y="591660"/>
                  </a:cubicBezTo>
                  <a:cubicBezTo>
                    <a:pt x="6995" y="579209"/>
                    <a:pt x="0" y="562322"/>
                    <a:pt x="0" y="544714"/>
                  </a:cubicBezTo>
                  <a:lnTo>
                    <a:pt x="0" y="66391"/>
                  </a:lnTo>
                  <a:cubicBezTo>
                    <a:pt x="0" y="48783"/>
                    <a:pt x="6995" y="31896"/>
                    <a:pt x="19446" y="19446"/>
                  </a:cubicBezTo>
                  <a:cubicBezTo>
                    <a:pt x="31896" y="6995"/>
                    <a:pt x="48783" y="0"/>
                    <a:pt x="66391" y="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9525"/>
              <a:ext cx="1566322" cy="6015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r>
                <a:rPr lang="en-US" sz="2499" b="1">
                  <a:solidFill>
                    <a:srgbClr val="000000"/>
                  </a:solidFill>
                  <a:latin typeface="RoxboroughCF Bold"/>
                  <a:ea typeface="RoxboroughCF Bold"/>
                  <a:cs typeface="RoxboroughCF Bold"/>
                  <a:sym typeface="RoxboroughCF Bold"/>
                </a:rPr>
                <a:t>02 | Limited Expense Visibility</a:t>
              </a:r>
            </a:p>
            <a:p>
              <a:pPr algn="ctr">
                <a:lnSpc>
                  <a:spcPts val="2749"/>
                </a:lnSpc>
              </a:pPr>
              <a:endParaRPr lang="en-US" sz="2499" b="1">
                <a:solidFill>
                  <a:srgbClr val="000000"/>
                </a:solidFill>
                <a:latin typeface="RoxboroughCF Bold"/>
                <a:ea typeface="RoxboroughCF Bold"/>
                <a:cs typeface="RoxboroughCF Bold"/>
                <a:sym typeface="RoxboroughCF Bold"/>
              </a:endParaRPr>
            </a:p>
            <a:p>
              <a:pPr algn="ctr">
                <a:lnSpc>
                  <a:spcPts val="2530"/>
                </a:lnSpc>
              </a:pPr>
              <a:r>
                <a:rPr lang="en-US" sz="2300">
                  <a:solidFill>
                    <a:srgbClr val="0000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 It can be difficult to keep track of everyday spending.</a:t>
              </a:r>
            </a:p>
            <a:p>
              <a:pPr algn="ctr">
                <a:lnSpc>
                  <a:spcPts val="2749"/>
                </a:lnSpc>
              </a:pPr>
              <a:endParaRPr lang="en-US" sz="2300">
                <a:solidFill>
                  <a:srgbClr val="000000"/>
                </a:solidFill>
                <a:latin typeface="RoxboroughCF"/>
                <a:ea typeface="RoxboroughCF"/>
                <a:cs typeface="RoxboroughCF"/>
                <a:sym typeface="RoxboroughCF"/>
              </a:endParaRPr>
            </a:p>
            <a:p>
              <a:pPr algn="ctr">
                <a:lnSpc>
                  <a:spcPts val="2749"/>
                </a:lnSpc>
              </a:pPr>
              <a:endParaRPr lang="en-US" sz="2300">
                <a:solidFill>
                  <a:srgbClr val="000000"/>
                </a:solidFill>
                <a:latin typeface="RoxboroughCF"/>
                <a:ea typeface="RoxboroughCF"/>
                <a:cs typeface="RoxboroughCF"/>
                <a:sym typeface="RoxboroughCF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867121" y="8344991"/>
            <a:ext cx="5947127" cy="1865956"/>
            <a:chOff x="0" y="0"/>
            <a:chExt cx="1566322" cy="49144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566322" cy="491445"/>
            </a:xfrm>
            <a:custGeom>
              <a:avLst/>
              <a:gdLst/>
              <a:ahLst/>
              <a:cxnLst/>
              <a:rect l="l" t="t" r="r" b="b"/>
              <a:pathLst>
                <a:path w="1566322" h="491445">
                  <a:moveTo>
                    <a:pt x="66391" y="0"/>
                  </a:moveTo>
                  <a:lnTo>
                    <a:pt x="1499930" y="0"/>
                  </a:lnTo>
                  <a:cubicBezTo>
                    <a:pt x="1517538" y="0"/>
                    <a:pt x="1534425" y="6995"/>
                    <a:pt x="1546876" y="19446"/>
                  </a:cubicBezTo>
                  <a:cubicBezTo>
                    <a:pt x="1559327" y="31896"/>
                    <a:pt x="1566322" y="48783"/>
                    <a:pt x="1566322" y="66391"/>
                  </a:cubicBezTo>
                  <a:lnTo>
                    <a:pt x="1566322" y="425054"/>
                  </a:lnTo>
                  <a:cubicBezTo>
                    <a:pt x="1566322" y="461721"/>
                    <a:pt x="1536597" y="491445"/>
                    <a:pt x="1499930" y="491445"/>
                  </a:cubicBezTo>
                  <a:lnTo>
                    <a:pt x="66391" y="491445"/>
                  </a:lnTo>
                  <a:cubicBezTo>
                    <a:pt x="48783" y="491445"/>
                    <a:pt x="31896" y="484450"/>
                    <a:pt x="19446" y="472000"/>
                  </a:cubicBezTo>
                  <a:cubicBezTo>
                    <a:pt x="6995" y="459549"/>
                    <a:pt x="0" y="442662"/>
                    <a:pt x="0" y="425054"/>
                  </a:cubicBezTo>
                  <a:lnTo>
                    <a:pt x="0" y="66391"/>
                  </a:lnTo>
                  <a:cubicBezTo>
                    <a:pt x="0" y="48783"/>
                    <a:pt x="6995" y="31896"/>
                    <a:pt x="19446" y="19446"/>
                  </a:cubicBezTo>
                  <a:cubicBezTo>
                    <a:pt x="31896" y="6995"/>
                    <a:pt x="48783" y="0"/>
                    <a:pt x="66391" y="0"/>
                  </a:cubicBezTo>
                  <a:close/>
                </a:path>
              </a:pathLst>
            </a:custGeom>
            <a:solidFill>
              <a:srgbClr val="EBB081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9525"/>
              <a:ext cx="1566322" cy="4819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r>
                <a:rPr lang="en-US" sz="2499" b="1">
                  <a:solidFill>
                    <a:srgbClr val="000000"/>
                  </a:solidFill>
                  <a:latin typeface="RoxboroughCF Bold"/>
                  <a:ea typeface="RoxboroughCF Bold"/>
                  <a:cs typeface="RoxboroughCF Bold"/>
                  <a:sym typeface="RoxboroughCF Bold"/>
                </a:rPr>
                <a:t>03 | Complex Financial Management</a:t>
              </a:r>
            </a:p>
            <a:p>
              <a:pPr algn="ctr">
                <a:lnSpc>
                  <a:spcPts val="2749"/>
                </a:lnSpc>
              </a:pPr>
              <a:endParaRPr lang="en-US" sz="2499" b="1">
                <a:solidFill>
                  <a:srgbClr val="000000"/>
                </a:solidFill>
                <a:latin typeface="RoxboroughCF Bold"/>
                <a:ea typeface="RoxboroughCF Bold"/>
                <a:cs typeface="RoxboroughCF Bold"/>
                <a:sym typeface="RoxboroughCF Bold"/>
              </a:endParaRPr>
            </a:p>
            <a:p>
              <a:pPr algn="ctr">
                <a:lnSpc>
                  <a:spcPts val="2420"/>
                </a:lnSpc>
              </a:pPr>
              <a:r>
                <a:rPr lang="en-US" sz="2200">
                  <a:solidFill>
                    <a:srgbClr val="0000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Users need a simple way to view transactions, balance and expenses together.</a:t>
              </a:r>
            </a:p>
            <a:p>
              <a:pPr algn="ctr">
                <a:lnSpc>
                  <a:spcPts val="2420"/>
                </a:lnSpc>
              </a:pPr>
              <a:endParaRPr lang="en-US" sz="2200">
                <a:solidFill>
                  <a:srgbClr val="000000"/>
                </a:solidFill>
                <a:latin typeface="RoxboroughCF"/>
                <a:ea typeface="RoxboroughCF"/>
                <a:cs typeface="RoxboroughCF"/>
                <a:sym typeface="RoxboroughCF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94517" y="7108646"/>
            <a:ext cx="11044678" cy="2938841"/>
            <a:chOff x="0" y="0"/>
            <a:chExt cx="2908886" cy="77401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908887" cy="774016"/>
            </a:xfrm>
            <a:custGeom>
              <a:avLst/>
              <a:gdLst/>
              <a:ahLst/>
              <a:cxnLst/>
              <a:rect l="l" t="t" r="r" b="b"/>
              <a:pathLst>
                <a:path w="2908887" h="774016">
                  <a:moveTo>
                    <a:pt x="35749" y="0"/>
                  </a:moveTo>
                  <a:lnTo>
                    <a:pt x="2873137" y="0"/>
                  </a:lnTo>
                  <a:cubicBezTo>
                    <a:pt x="2892881" y="0"/>
                    <a:pt x="2908887" y="16005"/>
                    <a:pt x="2908887" y="35749"/>
                  </a:cubicBezTo>
                  <a:lnTo>
                    <a:pt x="2908887" y="738267"/>
                  </a:lnTo>
                  <a:cubicBezTo>
                    <a:pt x="2908887" y="758010"/>
                    <a:pt x="2892881" y="774016"/>
                    <a:pt x="2873137" y="774016"/>
                  </a:cubicBezTo>
                  <a:lnTo>
                    <a:pt x="35749" y="774016"/>
                  </a:lnTo>
                  <a:cubicBezTo>
                    <a:pt x="16005" y="774016"/>
                    <a:pt x="0" y="758010"/>
                    <a:pt x="0" y="738267"/>
                  </a:cubicBezTo>
                  <a:lnTo>
                    <a:pt x="0" y="35749"/>
                  </a:lnTo>
                  <a:cubicBezTo>
                    <a:pt x="0" y="16005"/>
                    <a:pt x="16005" y="0"/>
                    <a:pt x="35749" y="0"/>
                  </a:cubicBezTo>
                  <a:close/>
                </a:path>
              </a:pathLst>
            </a:custGeom>
            <a:solidFill>
              <a:srgbClr val="EBB081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9525"/>
              <a:ext cx="2908886" cy="7644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r>
                <a:rPr lang="en-US" sz="2499" b="1">
                  <a:solidFill>
                    <a:srgbClr val="000000"/>
                  </a:solidFill>
                  <a:latin typeface="RoxboroughCF Bold"/>
                  <a:ea typeface="RoxboroughCF Bold"/>
                  <a:cs typeface="RoxboroughCF Bold"/>
                  <a:sym typeface="RoxboroughCF Bold"/>
                </a:rPr>
                <a:t>Our Solution</a:t>
              </a:r>
            </a:p>
            <a:p>
              <a:pPr algn="ctr">
                <a:lnSpc>
                  <a:spcPts val="2749"/>
                </a:lnSpc>
              </a:pPr>
              <a:endParaRPr lang="en-US" sz="2499" b="1">
                <a:solidFill>
                  <a:srgbClr val="000000"/>
                </a:solidFill>
                <a:latin typeface="RoxboroughCF Bold"/>
                <a:ea typeface="RoxboroughCF Bold"/>
                <a:cs typeface="RoxboroughCF Bold"/>
                <a:sym typeface="RoxboroughCF Bold"/>
              </a:endParaRPr>
            </a:p>
            <a:p>
              <a:pPr algn="l">
                <a:lnSpc>
                  <a:spcPts val="2749"/>
                </a:lnSpc>
              </a:pPr>
              <a:r>
                <a:rPr lang="en-US" sz="2499">
                  <a:solidFill>
                    <a:srgbClr val="0000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Tranzo brings transactions, balance management and expense tracking    together in a simple, user-friendly platform.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581049" y="373363"/>
            <a:ext cx="5546312" cy="1109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60"/>
              </a:lnSpc>
            </a:pPr>
            <a:r>
              <a:rPr lang="en-US" sz="6900" b="1">
                <a:solidFill>
                  <a:srgbClr val="FFFFFF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Introduction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94517" y="1861972"/>
            <a:ext cx="17993483" cy="1216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RoxboroughCF"/>
                <a:ea typeface="RoxboroughCF"/>
                <a:cs typeface="RoxboroughCF"/>
                <a:sym typeface="RoxboroughCF"/>
              </a:rPr>
              <a:t>Tranzo is a web-based financial management system designed to simplify everyday financial activities and personal expense tracking in one platform.</a:t>
            </a:r>
          </a:p>
        </p:txBody>
      </p:sp>
      <p:sp>
        <p:nvSpPr>
          <p:cNvPr id="25" name="Freeform 25"/>
          <p:cNvSpPr/>
          <p:nvPr/>
        </p:nvSpPr>
        <p:spPr>
          <a:xfrm>
            <a:off x="0" y="-358107"/>
            <a:ext cx="1187953" cy="1781929"/>
          </a:xfrm>
          <a:custGeom>
            <a:avLst/>
            <a:gdLst/>
            <a:ahLst/>
            <a:cxnLst/>
            <a:rect l="l" t="t" r="r" b="b"/>
            <a:pathLst>
              <a:path w="1187953" h="1781929">
                <a:moveTo>
                  <a:pt x="0" y="0"/>
                </a:moveTo>
                <a:lnTo>
                  <a:pt x="1187953" y="0"/>
                </a:lnTo>
                <a:lnTo>
                  <a:pt x="1187953" y="1781929"/>
                </a:lnTo>
                <a:lnTo>
                  <a:pt x="0" y="17819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3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2398896" y="1697617"/>
          <a:ext cx="14486668" cy="8210548"/>
        </p:xfrm>
        <a:graphic>
          <a:graphicData uri="http://schemas.openxmlformats.org/drawingml/2006/table">
            <a:tbl>
              <a:tblPr/>
              <a:tblGrid>
                <a:gridCol w="6082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04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9328">
                <a:tc>
                  <a:txBody>
                    <a:bodyPr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 b="1">
                          <a:solidFill>
                            <a:srgbClr val="000000"/>
                          </a:solidFill>
                          <a:latin typeface="RoxboroughCF Bold"/>
                          <a:ea typeface="RoxboroughCF Bold"/>
                          <a:cs typeface="RoxboroughCF Bold"/>
                          <a:sym typeface="RoxboroughCF Bold"/>
                        </a:rPr>
                        <a:t>Category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B0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 b="1">
                          <a:solidFill>
                            <a:srgbClr val="000000"/>
                          </a:solidFill>
                          <a:latin typeface="RoxboroughCF Bold"/>
                          <a:ea typeface="RoxboroughCF Bold"/>
                          <a:cs typeface="RoxboroughCF Bold"/>
                          <a:sym typeface="RoxboroughCF Bold"/>
                        </a:rPr>
                        <a:t>Technologies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B0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1870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1">
                          <a:solidFill>
                            <a:srgbClr val="000000"/>
                          </a:solidFill>
                          <a:latin typeface="RoxboroughCF Bold"/>
                          <a:ea typeface="RoxboroughCF Bold"/>
                          <a:cs typeface="RoxboroughCF Bold"/>
                          <a:sym typeface="RoxboroughCF Bold"/>
                        </a:rPr>
                        <a:t>Frontend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1">
                          <a:solidFill>
                            <a:srgbClr val="000000"/>
                          </a:solidFill>
                          <a:latin typeface="RoxboroughCF Bold"/>
                          <a:ea typeface="RoxboroughCF Bold"/>
                          <a:cs typeface="RoxboroughCF Bold"/>
                          <a:sym typeface="RoxboroughCF Bold"/>
                        </a:rPr>
                        <a:t>HTML5, Tailwind CSS, Daisy UI, JavaScript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1870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1">
                          <a:solidFill>
                            <a:srgbClr val="000000"/>
                          </a:solidFill>
                          <a:latin typeface="RoxboroughCF Bold"/>
                          <a:ea typeface="RoxboroughCF Bold"/>
                          <a:cs typeface="RoxboroughCF Bold"/>
                          <a:sym typeface="RoxboroughCF Bold"/>
                        </a:rPr>
                        <a:t>Backend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1">
                          <a:solidFill>
                            <a:srgbClr val="000000"/>
                          </a:solidFill>
                          <a:latin typeface="RoxboroughCF Bold"/>
                          <a:ea typeface="RoxboroughCF Bold"/>
                          <a:cs typeface="RoxboroughCF Bold"/>
                          <a:sym typeface="RoxboroughCF Bold"/>
                        </a:rPr>
                        <a:t>Javascript,typescript,next.js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1870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1">
                          <a:solidFill>
                            <a:srgbClr val="000000"/>
                          </a:solidFill>
                          <a:latin typeface="RoxboroughCF Bold"/>
                          <a:ea typeface="RoxboroughCF Bold"/>
                          <a:cs typeface="RoxboroughCF Bold"/>
                          <a:sym typeface="RoxboroughCF Bold"/>
                        </a:rPr>
                        <a:t>Database / Data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1">
                          <a:solidFill>
                            <a:srgbClr val="000000"/>
                          </a:solidFill>
                          <a:latin typeface="RoxboroughCF Bold"/>
                          <a:ea typeface="RoxboroughCF Bold"/>
                          <a:cs typeface="RoxboroughCF Bold"/>
                          <a:sym typeface="RoxboroughCF Bold"/>
                        </a:rPr>
                        <a:t>MongoDB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61870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1">
                          <a:solidFill>
                            <a:srgbClr val="000000"/>
                          </a:solidFill>
                          <a:latin typeface="RoxboroughCF Bold"/>
                          <a:ea typeface="RoxboroughCF Bold"/>
                          <a:cs typeface="RoxboroughCF Bold"/>
                          <a:sym typeface="RoxboroughCF Bold"/>
                        </a:rPr>
                        <a:t>Charts &amp; Analytics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1">
                          <a:solidFill>
                            <a:srgbClr val="000000"/>
                          </a:solidFill>
                          <a:latin typeface="RoxboroughCF Bold"/>
                          <a:ea typeface="RoxboroughCF Bold"/>
                          <a:cs typeface="RoxboroughCF Bold"/>
                          <a:sym typeface="RoxboroughCF Bold"/>
                        </a:rPr>
                        <a:t>Resend API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61870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1">
                          <a:solidFill>
                            <a:srgbClr val="000000"/>
                          </a:solidFill>
                          <a:latin typeface="RoxboroughCF Bold"/>
                          <a:ea typeface="RoxboroughCF Bold"/>
                          <a:cs typeface="RoxboroughCF Bold"/>
                          <a:sym typeface="RoxboroughCF Bold"/>
                        </a:rPr>
                        <a:t>Development Tools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1">
                          <a:solidFill>
                            <a:srgbClr val="000000"/>
                          </a:solidFill>
                          <a:latin typeface="RoxboroughCF Bold"/>
                          <a:ea typeface="RoxboroughCF Bold"/>
                          <a:cs typeface="RoxboroughCF Bold"/>
                          <a:sym typeface="RoxboroughCF Bold"/>
                        </a:rPr>
                        <a:t>Visual Studio Code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61870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1">
                          <a:solidFill>
                            <a:srgbClr val="000000"/>
                          </a:solidFill>
                          <a:latin typeface="RoxboroughCF Bold"/>
                          <a:ea typeface="RoxboroughCF Bold"/>
                          <a:cs typeface="RoxboroughCF Bold"/>
                          <a:sym typeface="RoxboroughCF Bold"/>
                        </a:rPr>
                        <a:t>Version Control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1">
                          <a:solidFill>
                            <a:srgbClr val="000000"/>
                          </a:solidFill>
                          <a:latin typeface="RoxboroughCF Bold"/>
                          <a:ea typeface="RoxboroughCF Bold"/>
                          <a:cs typeface="RoxboroughCF Bold"/>
                          <a:sym typeface="RoxboroughCF Bold"/>
                        </a:rPr>
                        <a:t>Git &amp; GitHub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1216136" y="424982"/>
            <a:ext cx="7276450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F3F6FA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Technology Stack</a:t>
            </a:r>
          </a:p>
        </p:txBody>
      </p:sp>
      <p:sp>
        <p:nvSpPr>
          <p:cNvPr id="4" name="Freeform 4"/>
          <p:cNvSpPr/>
          <p:nvPr/>
        </p:nvSpPr>
        <p:spPr>
          <a:xfrm>
            <a:off x="697947" y="129117"/>
            <a:ext cx="1055339" cy="1528944"/>
          </a:xfrm>
          <a:custGeom>
            <a:avLst/>
            <a:gdLst/>
            <a:ahLst/>
            <a:cxnLst/>
            <a:rect l="l" t="t" r="r" b="b"/>
            <a:pathLst>
              <a:path w="1055339" h="1528944">
                <a:moveTo>
                  <a:pt x="0" y="0"/>
                </a:moveTo>
                <a:lnTo>
                  <a:pt x="1055339" y="0"/>
                </a:lnTo>
                <a:lnTo>
                  <a:pt x="1055339" y="1528944"/>
                </a:lnTo>
                <a:lnTo>
                  <a:pt x="0" y="15289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3536"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A97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25247" y="2001957"/>
            <a:ext cx="14634146" cy="8113229"/>
          </a:xfrm>
          <a:custGeom>
            <a:avLst/>
            <a:gdLst/>
            <a:ahLst/>
            <a:cxnLst/>
            <a:rect l="l" t="t" r="r" b="b"/>
            <a:pathLst>
              <a:path w="14634146" h="8113229">
                <a:moveTo>
                  <a:pt x="0" y="0"/>
                </a:moveTo>
                <a:lnTo>
                  <a:pt x="14634145" y="0"/>
                </a:lnTo>
                <a:lnTo>
                  <a:pt x="14634145" y="8113228"/>
                </a:lnTo>
                <a:lnTo>
                  <a:pt x="0" y="81132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1" t="-5458" b="-693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32261" y="126968"/>
            <a:ext cx="7297157" cy="979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80"/>
              </a:lnSpc>
            </a:pPr>
            <a:r>
              <a:rPr lang="en-US" sz="5700" b="1">
                <a:solidFill>
                  <a:srgbClr val="FFFFFF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PROJECT  TIMELINE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19161" y="1298288"/>
            <a:ext cx="5206356" cy="4012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27"/>
              </a:lnSpc>
            </a:pPr>
            <a:r>
              <a:rPr lang="en-US" sz="2519">
                <a:solidFill>
                  <a:srgbClr val="FFFFFF"/>
                </a:solidFill>
                <a:latin typeface="RoxboroughCF"/>
                <a:ea typeface="RoxboroughCF"/>
                <a:cs typeface="RoxboroughCF"/>
                <a:sym typeface="RoxboroughCF"/>
              </a:rPr>
              <a:t>Updated Development Progress</a:t>
            </a:r>
          </a:p>
        </p:txBody>
      </p:sp>
      <p:sp>
        <p:nvSpPr>
          <p:cNvPr id="5" name="Freeform 5"/>
          <p:cNvSpPr/>
          <p:nvPr/>
        </p:nvSpPr>
        <p:spPr>
          <a:xfrm>
            <a:off x="-272665" y="-486493"/>
            <a:ext cx="1061731" cy="1592596"/>
          </a:xfrm>
          <a:custGeom>
            <a:avLst/>
            <a:gdLst/>
            <a:ahLst/>
            <a:cxnLst/>
            <a:rect l="l" t="t" r="r" b="b"/>
            <a:pathLst>
              <a:path w="1061731" h="1592596">
                <a:moveTo>
                  <a:pt x="0" y="0"/>
                </a:moveTo>
                <a:lnTo>
                  <a:pt x="1061731" y="0"/>
                </a:lnTo>
                <a:lnTo>
                  <a:pt x="1061731" y="1592596"/>
                </a:lnTo>
                <a:lnTo>
                  <a:pt x="0" y="15925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78003" y="3524980"/>
            <a:ext cx="3569950" cy="3380617"/>
            <a:chOff x="0" y="0"/>
            <a:chExt cx="940234" cy="8903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0234" cy="890368"/>
            </a:xfrm>
            <a:custGeom>
              <a:avLst/>
              <a:gdLst/>
              <a:ahLst/>
              <a:cxnLst/>
              <a:rect l="l" t="t" r="r" b="b"/>
              <a:pathLst>
                <a:path w="940234" h="890368">
                  <a:moveTo>
                    <a:pt x="110600" y="0"/>
                  </a:moveTo>
                  <a:lnTo>
                    <a:pt x="829633" y="0"/>
                  </a:lnTo>
                  <a:cubicBezTo>
                    <a:pt x="858966" y="0"/>
                    <a:pt x="887098" y="11653"/>
                    <a:pt x="907840" y="32394"/>
                  </a:cubicBezTo>
                  <a:cubicBezTo>
                    <a:pt x="928581" y="53136"/>
                    <a:pt x="940234" y="81267"/>
                    <a:pt x="940234" y="110600"/>
                  </a:cubicBezTo>
                  <a:lnTo>
                    <a:pt x="940234" y="779768"/>
                  </a:lnTo>
                  <a:cubicBezTo>
                    <a:pt x="940234" y="809101"/>
                    <a:pt x="928581" y="837233"/>
                    <a:pt x="907840" y="857974"/>
                  </a:cubicBezTo>
                  <a:cubicBezTo>
                    <a:pt x="887098" y="878716"/>
                    <a:pt x="858966" y="890368"/>
                    <a:pt x="829633" y="890368"/>
                  </a:cubicBezTo>
                  <a:lnTo>
                    <a:pt x="110600" y="890368"/>
                  </a:lnTo>
                  <a:cubicBezTo>
                    <a:pt x="81267" y="890368"/>
                    <a:pt x="53136" y="878716"/>
                    <a:pt x="32394" y="857974"/>
                  </a:cubicBezTo>
                  <a:cubicBezTo>
                    <a:pt x="11653" y="837233"/>
                    <a:pt x="0" y="809101"/>
                    <a:pt x="0" y="779768"/>
                  </a:cubicBezTo>
                  <a:lnTo>
                    <a:pt x="0" y="110600"/>
                  </a:lnTo>
                  <a:cubicBezTo>
                    <a:pt x="0" y="81267"/>
                    <a:pt x="11653" y="53136"/>
                    <a:pt x="32394" y="32394"/>
                  </a:cubicBezTo>
                  <a:cubicBezTo>
                    <a:pt x="53136" y="11653"/>
                    <a:pt x="81267" y="0"/>
                    <a:pt x="110600" y="0"/>
                  </a:cubicBezTo>
                  <a:close/>
                </a:path>
              </a:pathLst>
            </a:custGeom>
            <a:solidFill>
              <a:srgbClr val="7A977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9525"/>
              <a:ext cx="940234" cy="8808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r>
                <a:rPr lang="en-US" sz="2499">
                  <a:solidFill>
                    <a:srgbClr val="0000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💸 Money Transactions</a:t>
              </a:r>
            </a:p>
            <a:p>
              <a:pPr algn="ctr">
                <a:lnSpc>
                  <a:spcPts val="2749"/>
                </a:lnSpc>
              </a:pPr>
              <a:endParaRPr lang="en-US" sz="2499">
                <a:solidFill>
                  <a:srgbClr val="000000"/>
                </a:solidFill>
                <a:latin typeface="RoxboroughCF"/>
                <a:ea typeface="RoxboroughCF"/>
                <a:cs typeface="RoxboroughCF"/>
                <a:sym typeface="RoxboroughCF"/>
              </a:endParaRPr>
            </a:p>
            <a:p>
              <a:pPr marL="539749" lvl="1" indent="-269875" algn="l">
                <a:lnSpc>
                  <a:spcPts val="274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Send Money</a:t>
              </a:r>
            </a:p>
            <a:p>
              <a:pPr marL="539749" lvl="1" indent="-269875" algn="l">
                <a:lnSpc>
                  <a:spcPts val="274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Add Money</a:t>
              </a:r>
            </a:p>
            <a:p>
              <a:pPr marL="539749" lvl="1" indent="-269875" algn="l">
                <a:lnSpc>
                  <a:spcPts val="274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Cash Out</a:t>
              </a:r>
            </a:p>
            <a:p>
              <a:pPr marL="539749" lvl="1" indent="-269875" algn="l">
                <a:lnSpc>
                  <a:spcPts val="274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Transfer Money</a:t>
              </a:r>
            </a:p>
            <a:p>
              <a:pPr algn="ctr">
                <a:lnSpc>
                  <a:spcPts val="2749"/>
                </a:lnSpc>
              </a:pPr>
              <a:endParaRPr lang="en-US" sz="2499">
                <a:solidFill>
                  <a:srgbClr val="000000"/>
                </a:solidFill>
                <a:latin typeface="RoxboroughCF"/>
                <a:ea typeface="RoxboroughCF"/>
                <a:cs typeface="RoxboroughCF"/>
                <a:sym typeface="RoxboroughCF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139904" y="3524980"/>
            <a:ext cx="3553209" cy="3380617"/>
            <a:chOff x="0" y="0"/>
            <a:chExt cx="935825" cy="8903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35825" cy="890368"/>
            </a:xfrm>
            <a:custGeom>
              <a:avLst/>
              <a:gdLst/>
              <a:ahLst/>
              <a:cxnLst/>
              <a:rect l="l" t="t" r="r" b="b"/>
              <a:pathLst>
                <a:path w="935825" h="890368">
                  <a:moveTo>
                    <a:pt x="111121" y="0"/>
                  </a:moveTo>
                  <a:lnTo>
                    <a:pt x="824703" y="0"/>
                  </a:lnTo>
                  <a:cubicBezTo>
                    <a:pt x="886074" y="0"/>
                    <a:pt x="935825" y="49751"/>
                    <a:pt x="935825" y="111121"/>
                  </a:cubicBezTo>
                  <a:lnTo>
                    <a:pt x="935825" y="779247"/>
                  </a:lnTo>
                  <a:cubicBezTo>
                    <a:pt x="935825" y="808718"/>
                    <a:pt x="924117" y="836982"/>
                    <a:pt x="903278" y="857822"/>
                  </a:cubicBezTo>
                  <a:cubicBezTo>
                    <a:pt x="882439" y="878661"/>
                    <a:pt x="854174" y="890368"/>
                    <a:pt x="824703" y="890368"/>
                  </a:cubicBezTo>
                  <a:lnTo>
                    <a:pt x="111121" y="890368"/>
                  </a:lnTo>
                  <a:cubicBezTo>
                    <a:pt x="49751" y="890368"/>
                    <a:pt x="0" y="840618"/>
                    <a:pt x="0" y="779247"/>
                  </a:cubicBezTo>
                  <a:lnTo>
                    <a:pt x="0" y="111121"/>
                  </a:lnTo>
                  <a:cubicBezTo>
                    <a:pt x="0" y="81650"/>
                    <a:pt x="11707" y="53386"/>
                    <a:pt x="32547" y="32547"/>
                  </a:cubicBezTo>
                  <a:cubicBezTo>
                    <a:pt x="53386" y="11707"/>
                    <a:pt x="81650" y="0"/>
                    <a:pt x="111121" y="0"/>
                  </a:cubicBezTo>
                  <a:close/>
                </a:path>
              </a:pathLst>
            </a:custGeom>
            <a:solidFill>
              <a:srgbClr val="EBB08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9525"/>
              <a:ext cx="935825" cy="8808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r>
                <a:rPr lang="en-US" sz="2499">
                  <a:solidFill>
                    <a:srgbClr val="0000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💳Bill &amp; Recharge</a:t>
              </a:r>
            </a:p>
            <a:p>
              <a:pPr algn="ctr">
                <a:lnSpc>
                  <a:spcPts val="2749"/>
                </a:lnSpc>
              </a:pPr>
              <a:endParaRPr lang="en-US" sz="2499">
                <a:solidFill>
                  <a:srgbClr val="000000"/>
                </a:solidFill>
                <a:latin typeface="RoxboroughCF"/>
                <a:ea typeface="RoxboroughCF"/>
                <a:cs typeface="RoxboroughCF"/>
                <a:sym typeface="RoxboroughCF"/>
              </a:endParaRPr>
            </a:p>
            <a:p>
              <a:pPr marL="539749" lvl="1" indent="-269875" algn="l">
                <a:lnSpc>
                  <a:spcPts val="274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Pay Bill</a:t>
              </a:r>
            </a:p>
            <a:p>
              <a:pPr marL="539749" lvl="1" indent="-269875" algn="l">
                <a:lnSpc>
                  <a:spcPts val="274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Mobile Recharge</a:t>
              </a:r>
            </a:p>
            <a:p>
              <a:pPr algn="l">
                <a:lnSpc>
                  <a:spcPts val="2749"/>
                </a:lnSpc>
              </a:pPr>
              <a:endParaRPr lang="en-US" sz="2499">
                <a:solidFill>
                  <a:srgbClr val="000000"/>
                </a:solidFill>
                <a:latin typeface="RoxboroughCF"/>
                <a:ea typeface="RoxboroughCF"/>
                <a:cs typeface="RoxboroughCF"/>
                <a:sym typeface="RoxboroughCF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200243" y="6849205"/>
            <a:ext cx="3681290" cy="3380617"/>
            <a:chOff x="0" y="0"/>
            <a:chExt cx="969558" cy="89036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69558" cy="890368"/>
            </a:xfrm>
            <a:custGeom>
              <a:avLst/>
              <a:gdLst/>
              <a:ahLst/>
              <a:cxnLst/>
              <a:rect l="l" t="t" r="r" b="b"/>
              <a:pathLst>
                <a:path w="969558" h="890368">
                  <a:moveTo>
                    <a:pt x="107255" y="0"/>
                  </a:moveTo>
                  <a:lnTo>
                    <a:pt x="862303" y="0"/>
                  </a:lnTo>
                  <a:cubicBezTo>
                    <a:pt x="921538" y="0"/>
                    <a:pt x="969558" y="48020"/>
                    <a:pt x="969558" y="107255"/>
                  </a:cubicBezTo>
                  <a:lnTo>
                    <a:pt x="969558" y="783113"/>
                  </a:lnTo>
                  <a:cubicBezTo>
                    <a:pt x="969558" y="842349"/>
                    <a:pt x="921538" y="890368"/>
                    <a:pt x="862303" y="890368"/>
                  </a:cubicBezTo>
                  <a:lnTo>
                    <a:pt x="107255" y="890368"/>
                  </a:lnTo>
                  <a:cubicBezTo>
                    <a:pt x="48020" y="890368"/>
                    <a:pt x="0" y="842349"/>
                    <a:pt x="0" y="783113"/>
                  </a:cubicBezTo>
                  <a:lnTo>
                    <a:pt x="0" y="107255"/>
                  </a:lnTo>
                  <a:cubicBezTo>
                    <a:pt x="0" y="48020"/>
                    <a:pt x="48020" y="0"/>
                    <a:pt x="107255" y="0"/>
                  </a:cubicBezTo>
                  <a:close/>
                </a:path>
              </a:pathLst>
            </a:custGeom>
            <a:solidFill>
              <a:srgbClr val="EBB081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969558" cy="8808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r>
                <a:rPr lang="en-US" sz="2499">
                  <a:solidFill>
                    <a:srgbClr val="0000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📊Expense Management</a:t>
              </a:r>
            </a:p>
            <a:p>
              <a:pPr algn="ctr">
                <a:lnSpc>
                  <a:spcPts val="2749"/>
                </a:lnSpc>
              </a:pPr>
              <a:endParaRPr lang="en-US" sz="2499">
                <a:solidFill>
                  <a:srgbClr val="000000"/>
                </a:solidFill>
                <a:latin typeface="RoxboroughCF"/>
                <a:ea typeface="RoxboroughCF"/>
                <a:cs typeface="RoxboroughCF"/>
                <a:sym typeface="RoxboroughCF"/>
              </a:endParaRPr>
            </a:p>
            <a:p>
              <a:pPr marL="539749" lvl="1" indent="-269875" algn="l">
                <a:lnSpc>
                  <a:spcPts val="274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Record expenses</a:t>
              </a:r>
            </a:p>
            <a:p>
              <a:pPr marL="539749" lvl="1" indent="-269875" algn="l">
                <a:lnSpc>
                  <a:spcPts val="274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Track spending</a:t>
              </a:r>
            </a:p>
            <a:p>
              <a:pPr marL="539749" lvl="1" indent="-269875" algn="l">
                <a:lnSpc>
                  <a:spcPts val="274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View financial activities</a:t>
              </a:r>
            </a:p>
            <a:p>
              <a:pPr algn="l">
                <a:lnSpc>
                  <a:spcPts val="2749"/>
                </a:lnSpc>
              </a:pPr>
              <a:endParaRPr lang="en-US" sz="2499">
                <a:solidFill>
                  <a:srgbClr val="000000"/>
                </a:solidFill>
                <a:latin typeface="RoxboroughCF"/>
                <a:ea typeface="RoxboroughCF"/>
                <a:cs typeface="RoxboroughCF"/>
                <a:sym typeface="RoxboroughCF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188413" y="3524980"/>
            <a:ext cx="3693120" cy="3149211"/>
            <a:chOff x="0" y="0"/>
            <a:chExt cx="972674" cy="82942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72674" cy="829422"/>
            </a:xfrm>
            <a:custGeom>
              <a:avLst/>
              <a:gdLst/>
              <a:ahLst/>
              <a:cxnLst/>
              <a:rect l="l" t="t" r="r" b="b"/>
              <a:pathLst>
                <a:path w="972674" h="829422">
                  <a:moveTo>
                    <a:pt x="106912" y="0"/>
                  </a:moveTo>
                  <a:lnTo>
                    <a:pt x="865762" y="0"/>
                  </a:lnTo>
                  <a:cubicBezTo>
                    <a:pt x="894117" y="0"/>
                    <a:pt x="921310" y="11264"/>
                    <a:pt x="941360" y="31314"/>
                  </a:cubicBezTo>
                  <a:cubicBezTo>
                    <a:pt x="961410" y="51364"/>
                    <a:pt x="972674" y="78557"/>
                    <a:pt x="972674" y="106912"/>
                  </a:cubicBezTo>
                  <a:lnTo>
                    <a:pt x="972674" y="722510"/>
                  </a:lnTo>
                  <a:cubicBezTo>
                    <a:pt x="972674" y="781556"/>
                    <a:pt x="924808" y="829422"/>
                    <a:pt x="865762" y="829422"/>
                  </a:cubicBezTo>
                  <a:lnTo>
                    <a:pt x="106912" y="829422"/>
                  </a:lnTo>
                  <a:cubicBezTo>
                    <a:pt x="78557" y="829422"/>
                    <a:pt x="51364" y="818158"/>
                    <a:pt x="31314" y="798108"/>
                  </a:cubicBezTo>
                  <a:cubicBezTo>
                    <a:pt x="11264" y="778058"/>
                    <a:pt x="0" y="750865"/>
                    <a:pt x="0" y="722510"/>
                  </a:cubicBezTo>
                  <a:lnTo>
                    <a:pt x="0" y="106912"/>
                  </a:lnTo>
                  <a:cubicBezTo>
                    <a:pt x="0" y="78557"/>
                    <a:pt x="11264" y="51364"/>
                    <a:pt x="31314" y="31314"/>
                  </a:cubicBezTo>
                  <a:cubicBezTo>
                    <a:pt x="51364" y="11264"/>
                    <a:pt x="78557" y="0"/>
                    <a:pt x="106912" y="0"/>
                  </a:cubicBezTo>
                  <a:close/>
                </a:path>
              </a:pathLst>
            </a:custGeom>
            <a:solidFill>
              <a:srgbClr val="936071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972674" cy="8198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r>
                <a:rPr lang="en-US" sz="2499">
                  <a:solidFill>
                    <a:srgbClr val="0000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📜Transaction History</a:t>
              </a:r>
            </a:p>
            <a:p>
              <a:pPr algn="ctr">
                <a:lnSpc>
                  <a:spcPts val="2749"/>
                </a:lnSpc>
              </a:pPr>
              <a:endParaRPr lang="en-US" sz="2499">
                <a:solidFill>
                  <a:srgbClr val="000000"/>
                </a:solidFill>
                <a:latin typeface="RoxboroughCF"/>
                <a:ea typeface="RoxboroughCF"/>
                <a:cs typeface="RoxboroughCF"/>
                <a:sym typeface="RoxboroughCF"/>
              </a:endParaRPr>
            </a:p>
            <a:p>
              <a:pPr marL="539749" lvl="1" indent="-269875" algn="l">
                <a:lnSpc>
                  <a:spcPts val="274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Transaction records</a:t>
              </a:r>
            </a:p>
            <a:p>
              <a:pPr marL="539749" lvl="1" indent="-269875" algn="l">
                <a:lnSpc>
                  <a:spcPts val="274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Amount &amp; type</a:t>
              </a:r>
            </a:p>
            <a:p>
              <a:pPr marL="539749" lvl="1" indent="-269875" algn="l">
                <a:lnSpc>
                  <a:spcPts val="274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Date, time &amp; status</a:t>
              </a:r>
            </a:p>
            <a:p>
              <a:pPr algn="l">
                <a:lnSpc>
                  <a:spcPts val="2749"/>
                </a:lnSpc>
              </a:pPr>
              <a:endParaRPr lang="en-US" sz="2499">
                <a:solidFill>
                  <a:srgbClr val="000000"/>
                </a:solidFill>
                <a:latin typeface="RoxboroughCF"/>
                <a:ea typeface="RoxboroughCF"/>
                <a:cs typeface="RoxboroughCF"/>
                <a:sym typeface="RoxboroughCF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078003" y="7143723"/>
            <a:ext cx="3569950" cy="3086100"/>
            <a:chOff x="0" y="0"/>
            <a:chExt cx="940234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40234" cy="812800"/>
            </a:xfrm>
            <a:custGeom>
              <a:avLst/>
              <a:gdLst/>
              <a:ahLst/>
              <a:cxnLst/>
              <a:rect l="l" t="t" r="r" b="b"/>
              <a:pathLst>
                <a:path w="940234" h="812800">
                  <a:moveTo>
                    <a:pt x="110600" y="0"/>
                  </a:moveTo>
                  <a:lnTo>
                    <a:pt x="829633" y="0"/>
                  </a:lnTo>
                  <a:cubicBezTo>
                    <a:pt x="858966" y="0"/>
                    <a:pt x="887098" y="11653"/>
                    <a:pt x="907840" y="32394"/>
                  </a:cubicBezTo>
                  <a:cubicBezTo>
                    <a:pt x="928581" y="53136"/>
                    <a:pt x="940234" y="81267"/>
                    <a:pt x="940234" y="110600"/>
                  </a:cubicBezTo>
                  <a:lnTo>
                    <a:pt x="940234" y="702200"/>
                  </a:lnTo>
                  <a:cubicBezTo>
                    <a:pt x="940234" y="731533"/>
                    <a:pt x="928581" y="759664"/>
                    <a:pt x="907840" y="780406"/>
                  </a:cubicBezTo>
                  <a:cubicBezTo>
                    <a:pt x="887098" y="801148"/>
                    <a:pt x="858966" y="812800"/>
                    <a:pt x="829633" y="812800"/>
                  </a:cubicBezTo>
                  <a:lnTo>
                    <a:pt x="110600" y="812800"/>
                  </a:lnTo>
                  <a:cubicBezTo>
                    <a:pt x="81267" y="812800"/>
                    <a:pt x="53136" y="801148"/>
                    <a:pt x="32394" y="780406"/>
                  </a:cubicBezTo>
                  <a:cubicBezTo>
                    <a:pt x="11653" y="759664"/>
                    <a:pt x="0" y="731533"/>
                    <a:pt x="0" y="702200"/>
                  </a:cubicBezTo>
                  <a:lnTo>
                    <a:pt x="0" y="110600"/>
                  </a:lnTo>
                  <a:cubicBezTo>
                    <a:pt x="0" y="81267"/>
                    <a:pt x="11653" y="53136"/>
                    <a:pt x="32394" y="32394"/>
                  </a:cubicBezTo>
                  <a:cubicBezTo>
                    <a:pt x="53136" y="11653"/>
                    <a:pt x="81267" y="0"/>
                    <a:pt x="110600" y="0"/>
                  </a:cubicBezTo>
                  <a:close/>
                </a:path>
              </a:pathLst>
            </a:custGeom>
            <a:solidFill>
              <a:srgbClr val="D86852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9525"/>
              <a:ext cx="940234" cy="803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r>
                <a:rPr lang="en-US" sz="2499">
                  <a:solidFill>
                    <a:srgbClr val="0000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👤 User Management</a:t>
              </a:r>
            </a:p>
            <a:p>
              <a:pPr algn="ctr">
                <a:lnSpc>
                  <a:spcPts val="2749"/>
                </a:lnSpc>
              </a:pPr>
              <a:endParaRPr lang="en-US" sz="2499">
                <a:solidFill>
                  <a:srgbClr val="000000"/>
                </a:solidFill>
                <a:latin typeface="RoxboroughCF"/>
                <a:ea typeface="RoxboroughCF"/>
                <a:cs typeface="RoxboroughCF"/>
                <a:sym typeface="RoxboroughCF"/>
              </a:endParaRPr>
            </a:p>
            <a:p>
              <a:pPr marL="539749" lvl="1" indent="-269875" algn="l">
                <a:lnSpc>
                  <a:spcPts val="274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User registration</a:t>
              </a:r>
            </a:p>
            <a:p>
              <a:pPr marL="539749" lvl="1" indent="-269875" algn="l">
                <a:lnSpc>
                  <a:spcPts val="274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User login</a:t>
              </a:r>
            </a:p>
            <a:p>
              <a:pPr marL="539749" lvl="1" indent="-269875" algn="l">
                <a:lnSpc>
                  <a:spcPts val="274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User session handling</a:t>
              </a:r>
            </a:p>
            <a:p>
              <a:pPr algn="l">
                <a:lnSpc>
                  <a:spcPts val="2749"/>
                </a:lnSpc>
              </a:pPr>
              <a:endParaRPr lang="en-US" sz="2499">
                <a:solidFill>
                  <a:srgbClr val="000000"/>
                </a:solidFill>
                <a:latin typeface="RoxboroughCF"/>
                <a:ea typeface="RoxboroughCF"/>
                <a:cs typeface="RoxboroughCF"/>
                <a:sym typeface="RoxboroughCF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030200" y="7143723"/>
            <a:ext cx="3772617" cy="3086100"/>
            <a:chOff x="0" y="0"/>
            <a:chExt cx="993611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93611" cy="812800"/>
            </a:xfrm>
            <a:custGeom>
              <a:avLst/>
              <a:gdLst/>
              <a:ahLst/>
              <a:cxnLst/>
              <a:rect l="l" t="t" r="r" b="b"/>
              <a:pathLst>
                <a:path w="993611" h="812800">
                  <a:moveTo>
                    <a:pt x="104659" y="0"/>
                  </a:moveTo>
                  <a:lnTo>
                    <a:pt x="888952" y="0"/>
                  </a:lnTo>
                  <a:cubicBezTo>
                    <a:pt x="946754" y="0"/>
                    <a:pt x="993611" y="46857"/>
                    <a:pt x="993611" y="104659"/>
                  </a:cubicBezTo>
                  <a:lnTo>
                    <a:pt x="993611" y="708141"/>
                  </a:lnTo>
                  <a:cubicBezTo>
                    <a:pt x="993611" y="765943"/>
                    <a:pt x="946754" y="812800"/>
                    <a:pt x="888952" y="812800"/>
                  </a:cubicBezTo>
                  <a:lnTo>
                    <a:pt x="104659" y="812800"/>
                  </a:lnTo>
                  <a:cubicBezTo>
                    <a:pt x="46857" y="812800"/>
                    <a:pt x="0" y="765943"/>
                    <a:pt x="0" y="708141"/>
                  </a:cubicBezTo>
                  <a:lnTo>
                    <a:pt x="0" y="104659"/>
                  </a:lnTo>
                  <a:cubicBezTo>
                    <a:pt x="0" y="46857"/>
                    <a:pt x="46857" y="0"/>
                    <a:pt x="104659" y="0"/>
                  </a:cubicBezTo>
                  <a:close/>
                </a:path>
              </a:pathLst>
            </a:custGeom>
            <a:solidFill>
              <a:srgbClr val="936071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9525"/>
              <a:ext cx="993611" cy="803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r>
                <a:rPr lang="en-US" sz="2499">
                  <a:solidFill>
                    <a:srgbClr val="0000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🛡️Admin Management</a:t>
              </a:r>
            </a:p>
            <a:p>
              <a:pPr algn="ctr">
                <a:lnSpc>
                  <a:spcPts val="2749"/>
                </a:lnSpc>
              </a:pPr>
              <a:endParaRPr lang="en-US" sz="2499">
                <a:solidFill>
                  <a:srgbClr val="000000"/>
                </a:solidFill>
                <a:latin typeface="RoxboroughCF"/>
                <a:ea typeface="RoxboroughCF"/>
                <a:cs typeface="RoxboroughCF"/>
                <a:sym typeface="RoxboroughCF"/>
              </a:endParaRPr>
            </a:p>
            <a:p>
              <a:pPr marL="539749" lvl="1" indent="-269875" algn="l">
                <a:lnSpc>
                  <a:spcPts val="274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User management</a:t>
              </a:r>
            </a:p>
            <a:p>
              <a:pPr marL="539749" lvl="1" indent="-269875" algn="l">
                <a:lnSpc>
                  <a:spcPts val="274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Transaction monitoring</a:t>
              </a:r>
            </a:p>
            <a:p>
              <a:pPr marL="539749" lvl="1" indent="-269875" algn="l">
                <a:lnSpc>
                  <a:spcPts val="274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Activity overview</a:t>
              </a:r>
            </a:p>
            <a:p>
              <a:pPr algn="l">
                <a:lnSpc>
                  <a:spcPts val="2749"/>
                </a:lnSpc>
              </a:pPr>
              <a:endParaRPr lang="en-US" sz="2499">
                <a:solidFill>
                  <a:srgbClr val="000000"/>
                </a:solidFill>
                <a:latin typeface="RoxboroughCF"/>
                <a:ea typeface="RoxboroughCF"/>
                <a:cs typeface="RoxboroughCF"/>
                <a:sym typeface="RoxboroughCF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483903" y="112789"/>
            <a:ext cx="10967031" cy="1271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7200" b="1" dirty="0">
                <a:solidFill>
                  <a:srgbClr val="FFFFFF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Implemented Features</a:t>
            </a:r>
            <a:endParaRPr lang="en-US" sz="7200" b="1" dirty="0">
              <a:solidFill>
                <a:srgbClr val="FFFFFF"/>
              </a:solidFill>
              <a:latin typeface="RoxboroughCF Bold"/>
              <a:ea typeface="RoxboroughCF Bold"/>
              <a:cs typeface="RoxboroughCF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727542" y="1654875"/>
            <a:ext cx="12292465" cy="589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RoxboroughCF"/>
                <a:ea typeface="RoxboroughCF"/>
                <a:cs typeface="RoxboroughCF"/>
                <a:sym typeface="RoxboroughCF"/>
              </a:rPr>
              <a:t>Key features developed in the current version of Tranzo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27542" y="2696895"/>
            <a:ext cx="2780224" cy="589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FFFFF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Main Content</a:t>
            </a:r>
          </a:p>
        </p:txBody>
      </p:sp>
      <p:sp>
        <p:nvSpPr>
          <p:cNvPr id="23" name="Freeform 23"/>
          <p:cNvSpPr/>
          <p:nvPr/>
        </p:nvSpPr>
        <p:spPr>
          <a:xfrm>
            <a:off x="482792" y="-320134"/>
            <a:ext cx="977583" cy="1466374"/>
          </a:xfrm>
          <a:custGeom>
            <a:avLst/>
            <a:gdLst/>
            <a:ahLst/>
            <a:cxnLst/>
            <a:rect l="l" t="t" r="r" b="b"/>
            <a:pathLst>
              <a:path w="977583" h="1466374">
                <a:moveTo>
                  <a:pt x="0" y="0"/>
                </a:moveTo>
                <a:lnTo>
                  <a:pt x="977583" y="0"/>
                </a:lnTo>
                <a:lnTo>
                  <a:pt x="977583" y="1466374"/>
                </a:lnTo>
                <a:lnTo>
                  <a:pt x="0" y="14663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A97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3863" y="252229"/>
            <a:ext cx="11918500" cy="948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5500" b="1" dirty="0">
                <a:solidFill>
                  <a:srgbClr val="FFFFFF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Dashboard &amp; Financial Features</a:t>
            </a:r>
            <a:endParaRPr lang="en-US" sz="5500" b="1" dirty="0">
              <a:solidFill>
                <a:srgbClr val="FFFFFF"/>
              </a:solidFill>
              <a:latin typeface="RoxboroughCF Bold"/>
              <a:ea typeface="RoxboroughCF Bold"/>
              <a:cs typeface="RoxboroughCF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426342" y="1466555"/>
            <a:ext cx="11536660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1">
                <a:solidFill>
                  <a:srgbClr val="FFFFFF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A centralized interface for managing everyday financial activities</a:t>
            </a: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2434280" y="2262207"/>
            <a:ext cx="3892354" cy="7701691"/>
            <a:chOff x="0" y="0"/>
            <a:chExt cx="2620010" cy="5184140"/>
          </a:xfrm>
        </p:grpSpPr>
        <p:sp>
          <p:nvSpPr>
            <p:cNvPr id="5" name="Freeform 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b="-117798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AFC1D0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AFC1D0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3F6FA"/>
            </a:solidFill>
          </p:spPr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10148787" y="2262207"/>
            <a:ext cx="3892354" cy="7701691"/>
            <a:chOff x="0" y="0"/>
            <a:chExt cx="2620010" cy="5184140"/>
          </a:xfrm>
        </p:grpSpPr>
        <p:sp>
          <p:nvSpPr>
            <p:cNvPr id="15" name="Freeform 1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t="-63257" b="-54541"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AFC1D0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AFC1D0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3F6FA"/>
            </a:solidFill>
          </p:spPr>
        </p:sp>
      </p:grpSp>
      <p:sp>
        <p:nvSpPr>
          <p:cNvPr id="24" name="Freeform 24"/>
          <p:cNvSpPr/>
          <p:nvPr/>
        </p:nvSpPr>
        <p:spPr>
          <a:xfrm>
            <a:off x="257543" y="-31319"/>
            <a:ext cx="1055339" cy="1528944"/>
          </a:xfrm>
          <a:custGeom>
            <a:avLst/>
            <a:gdLst/>
            <a:ahLst/>
            <a:cxnLst/>
            <a:rect l="l" t="t" r="r" b="b"/>
            <a:pathLst>
              <a:path w="1055339" h="1528944">
                <a:moveTo>
                  <a:pt x="0" y="0"/>
                </a:moveTo>
                <a:lnTo>
                  <a:pt x="1055339" y="0"/>
                </a:lnTo>
                <a:lnTo>
                  <a:pt x="1055339" y="1528944"/>
                </a:lnTo>
                <a:lnTo>
                  <a:pt x="0" y="15289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536"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A97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9949617" y="2068422"/>
            <a:ext cx="3431872" cy="6790549"/>
            <a:chOff x="0" y="0"/>
            <a:chExt cx="2620010" cy="5184140"/>
          </a:xfrm>
        </p:grpSpPr>
        <p:sp>
          <p:nvSpPr>
            <p:cNvPr id="3" name="Freeform 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t="-56247" b="-13096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</p:spPr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2761038" y="2068422"/>
            <a:ext cx="3431872" cy="6790549"/>
            <a:chOff x="0" y="0"/>
            <a:chExt cx="2620010" cy="5184140"/>
          </a:xfrm>
        </p:grpSpPr>
        <p:sp>
          <p:nvSpPr>
            <p:cNvPr id="13" name="Freeform 1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6067" r="-55869"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2256723" y="9215920"/>
            <a:ext cx="3086100" cy="814108"/>
            <a:chOff x="0" y="0"/>
            <a:chExt cx="812800" cy="21441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214415"/>
            </a:xfrm>
            <a:custGeom>
              <a:avLst/>
              <a:gdLst/>
              <a:ahLst/>
              <a:cxnLst/>
              <a:rect l="l" t="t" r="r" b="b"/>
              <a:pathLst>
                <a:path w="812800" h="214415">
                  <a:moveTo>
                    <a:pt x="107208" y="0"/>
                  </a:moveTo>
                  <a:lnTo>
                    <a:pt x="705592" y="0"/>
                  </a:lnTo>
                  <a:cubicBezTo>
                    <a:pt x="764802" y="0"/>
                    <a:pt x="812800" y="47998"/>
                    <a:pt x="812800" y="107208"/>
                  </a:cubicBezTo>
                  <a:lnTo>
                    <a:pt x="812800" y="107208"/>
                  </a:lnTo>
                  <a:cubicBezTo>
                    <a:pt x="812800" y="166417"/>
                    <a:pt x="764802" y="214415"/>
                    <a:pt x="705592" y="214415"/>
                  </a:cubicBezTo>
                  <a:lnTo>
                    <a:pt x="107208" y="214415"/>
                  </a:lnTo>
                  <a:cubicBezTo>
                    <a:pt x="47998" y="214415"/>
                    <a:pt x="0" y="166417"/>
                    <a:pt x="0" y="107208"/>
                  </a:cubicBezTo>
                  <a:lnTo>
                    <a:pt x="0" y="107208"/>
                  </a:lnTo>
                  <a:cubicBezTo>
                    <a:pt x="0" y="47998"/>
                    <a:pt x="47998" y="0"/>
                    <a:pt x="107208" y="0"/>
                  </a:cubicBezTo>
                  <a:close/>
                </a:path>
              </a:pathLst>
            </a:custGeom>
            <a:solidFill>
              <a:srgbClr val="EBB081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9525"/>
              <a:ext cx="812800" cy="2048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r>
                <a:rPr lang="en-US" sz="2499">
                  <a:solidFill>
                    <a:srgbClr val="0000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📊 Track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161973" y="9205401"/>
            <a:ext cx="3086100" cy="835145"/>
            <a:chOff x="0" y="0"/>
            <a:chExt cx="812800" cy="21995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219956"/>
            </a:xfrm>
            <a:custGeom>
              <a:avLst/>
              <a:gdLst/>
              <a:ahLst/>
              <a:cxnLst/>
              <a:rect l="l" t="t" r="r" b="b"/>
              <a:pathLst>
                <a:path w="812800" h="219956">
                  <a:moveTo>
                    <a:pt x="109978" y="0"/>
                  </a:moveTo>
                  <a:lnTo>
                    <a:pt x="702822" y="0"/>
                  </a:lnTo>
                  <a:cubicBezTo>
                    <a:pt x="731990" y="0"/>
                    <a:pt x="759963" y="11587"/>
                    <a:pt x="780588" y="32212"/>
                  </a:cubicBezTo>
                  <a:cubicBezTo>
                    <a:pt x="801213" y="52837"/>
                    <a:pt x="812800" y="80810"/>
                    <a:pt x="812800" y="109978"/>
                  </a:cubicBezTo>
                  <a:lnTo>
                    <a:pt x="812800" y="109978"/>
                  </a:lnTo>
                  <a:cubicBezTo>
                    <a:pt x="812800" y="139146"/>
                    <a:pt x="801213" y="167119"/>
                    <a:pt x="780588" y="187744"/>
                  </a:cubicBezTo>
                  <a:cubicBezTo>
                    <a:pt x="759963" y="208369"/>
                    <a:pt x="731990" y="219956"/>
                    <a:pt x="702822" y="219956"/>
                  </a:cubicBezTo>
                  <a:lnTo>
                    <a:pt x="109978" y="219956"/>
                  </a:lnTo>
                  <a:cubicBezTo>
                    <a:pt x="80810" y="219956"/>
                    <a:pt x="52837" y="208369"/>
                    <a:pt x="32212" y="187744"/>
                  </a:cubicBezTo>
                  <a:cubicBezTo>
                    <a:pt x="11587" y="167119"/>
                    <a:pt x="0" y="139146"/>
                    <a:pt x="0" y="109978"/>
                  </a:cubicBezTo>
                  <a:lnTo>
                    <a:pt x="0" y="109978"/>
                  </a:lnTo>
                  <a:cubicBezTo>
                    <a:pt x="0" y="80810"/>
                    <a:pt x="11587" y="52837"/>
                    <a:pt x="32212" y="32212"/>
                  </a:cubicBezTo>
                  <a:cubicBezTo>
                    <a:pt x="52837" y="11587"/>
                    <a:pt x="80810" y="0"/>
                    <a:pt x="109978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9525"/>
              <a:ext cx="812800" cy="2104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r>
                <a:rPr lang="en-US" sz="2499">
                  <a:solidFill>
                    <a:srgbClr val="0000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🔍 Review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066385" y="9205401"/>
            <a:ext cx="3139033" cy="835145"/>
            <a:chOff x="0" y="0"/>
            <a:chExt cx="826741" cy="21995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26741" cy="219956"/>
            </a:xfrm>
            <a:custGeom>
              <a:avLst/>
              <a:gdLst/>
              <a:ahLst/>
              <a:cxnLst/>
              <a:rect l="l" t="t" r="r" b="b"/>
              <a:pathLst>
                <a:path w="826741" h="219956">
                  <a:moveTo>
                    <a:pt x="109978" y="0"/>
                  </a:moveTo>
                  <a:lnTo>
                    <a:pt x="716763" y="0"/>
                  </a:lnTo>
                  <a:cubicBezTo>
                    <a:pt x="777502" y="0"/>
                    <a:pt x="826741" y="49239"/>
                    <a:pt x="826741" y="109978"/>
                  </a:cubicBezTo>
                  <a:lnTo>
                    <a:pt x="826741" y="109978"/>
                  </a:lnTo>
                  <a:cubicBezTo>
                    <a:pt x="826741" y="139146"/>
                    <a:pt x="815154" y="167119"/>
                    <a:pt x="794530" y="187744"/>
                  </a:cubicBezTo>
                  <a:cubicBezTo>
                    <a:pt x="773905" y="208369"/>
                    <a:pt x="745931" y="219956"/>
                    <a:pt x="716763" y="219956"/>
                  </a:cubicBezTo>
                  <a:lnTo>
                    <a:pt x="109978" y="219956"/>
                  </a:lnTo>
                  <a:cubicBezTo>
                    <a:pt x="80810" y="219956"/>
                    <a:pt x="52837" y="208369"/>
                    <a:pt x="32212" y="187744"/>
                  </a:cubicBezTo>
                  <a:cubicBezTo>
                    <a:pt x="11587" y="167119"/>
                    <a:pt x="0" y="139146"/>
                    <a:pt x="0" y="109978"/>
                  </a:cubicBezTo>
                  <a:lnTo>
                    <a:pt x="0" y="109978"/>
                  </a:lnTo>
                  <a:cubicBezTo>
                    <a:pt x="0" y="80810"/>
                    <a:pt x="11587" y="52837"/>
                    <a:pt x="32212" y="32212"/>
                  </a:cubicBezTo>
                  <a:cubicBezTo>
                    <a:pt x="52837" y="11587"/>
                    <a:pt x="80810" y="0"/>
                    <a:pt x="109978" y="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9525"/>
              <a:ext cx="826741" cy="2104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r>
                <a:rPr lang="en-US" sz="2499">
                  <a:solidFill>
                    <a:srgbClr val="0000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💰 Manage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355426" y="184904"/>
            <a:ext cx="12427493" cy="961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5500" b="1" dirty="0">
                <a:solidFill>
                  <a:srgbClr val="F3F6FA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Expense Tracking &amp; Management</a:t>
            </a:r>
            <a:endParaRPr lang="en-US" sz="5500" b="1" dirty="0">
              <a:solidFill>
                <a:srgbClr val="F3F6FA"/>
              </a:solidFill>
              <a:latin typeface="RoxboroughCF Bold"/>
              <a:ea typeface="RoxboroughCF Bold"/>
              <a:cs typeface="RoxboroughCF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0" y="1366610"/>
            <a:ext cx="9746993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1">
                <a:solidFill>
                  <a:srgbClr val="F3F6FA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Helping users keep track of their everyday spending</a:t>
            </a:r>
          </a:p>
        </p:txBody>
      </p:sp>
      <p:sp>
        <p:nvSpPr>
          <p:cNvPr id="33" name="Freeform 33"/>
          <p:cNvSpPr/>
          <p:nvPr/>
        </p:nvSpPr>
        <p:spPr>
          <a:xfrm>
            <a:off x="0" y="-105184"/>
            <a:ext cx="1055339" cy="1528944"/>
          </a:xfrm>
          <a:custGeom>
            <a:avLst/>
            <a:gdLst/>
            <a:ahLst/>
            <a:cxnLst/>
            <a:rect l="l" t="t" r="r" b="b"/>
            <a:pathLst>
              <a:path w="1055339" h="1528944">
                <a:moveTo>
                  <a:pt x="0" y="0"/>
                </a:moveTo>
                <a:lnTo>
                  <a:pt x="1055339" y="0"/>
                </a:lnTo>
                <a:lnTo>
                  <a:pt x="1055339" y="1528944"/>
                </a:lnTo>
                <a:lnTo>
                  <a:pt x="0" y="15289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536"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A97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94926" y="155740"/>
            <a:ext cx="8674107" cy="1047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F3F6FA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Testing &amp; Validation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-1937761" y="1307753"/>
            <a:ext cx="15889786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1">
                <a:solidFill>
                  <a:srgbClr val="F3F6FA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Key tests performed to validate Tranzo's core functionality</a:t>
            </a:r>
          </a:p>
        </p:txBody>
      </p:sp>
      <p:sp>
        <p:nvSpPr>
          <p:cNvPr id="5" name="Freeform 5"/>
          <p:cNvSpPr/>
          <p:nvPr/>
        </p:nvSpPr>
        <p:spPr>
          <a:xfrm>
            <a:off x="0" y="-18204"/>
            <a:ext cx="1055339" cy="1528944"/>
          </a:xfrm>
          <a:custGeom>
            <a:avLst/>
            <a:gdLst/>
            <a:ahLst/>
            <a:cxnLst/>
            <a:rect l="l" t="t" r="r" b="b"/>
            <a:pathLst>
              <a:path w="1055339" h="1528944">
                <a:moveTo>
                  <a:pt x="0" y="0"/>
                </a:moveTo>
                <a:lnTo>
                  <a:pt x="1055339" y="0"/>
                </a:lnTo>
                <a:lnTo>
                  <a:pt x="1055339" y="1528943"/>
                </a:lnTo>
                <a:lnTo>
                  <a:pt x="0" y="15289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3536"/>
            </a:stretch>
          </a:blipFill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72DCE89-9569-36DF-8F4C-5F73697EC5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216"/>
          <a:stretch>
            <a:fillRect/>
          </a:stretch>
        </p:blipFill>
        <p:spPr>
          <a:xfrm>
            <a:off x="275246" y="2175353"/>
            <a:ext cx="17784479" cy="72192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A97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638089" y="1874022"/>
          <a:ext cx="17291532" cy="8077048"/>
        </p:xfrm>
        <a:graphic>
          <a:graphicData uri="http://schemas.openxmlformats.org/drawingml/2006/table">
            <a:tbl>
              <a:tblPr/>
              <a:tblGrid>
                <a:gridCol w="8085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64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3952">
                <a:tc>
                  <a:txBody>
                    <a:bodyPr/>
                    <a:lstStyle/>
                    <a:p>
                      <a:pPr algn="ctr">
                        <a:lnSpc>
                          <a:spcPts val="7279"/>
                        </a:lnSpc>
                        <a:defRPr/>
                      </a:pPr>
                      <a:r>
                        <a:rPr lang="en-US" sz="5199">
                          <a:solidFill>
                            <a:srgbClr val="FFFFFF"/>
                          </a:solidFill>
                          <a:latin typeface="RoxboroughCF"/>
                          <a:ea typeface="RoxboroughCF"/>
                          <a:cs typeface="RoxboroughCF"/>
                          <a:sym typeface="RoxboroughCF"/>
                        </a:rPr>
                        <a:t>Challenges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1">
                          <a:solidFill>
                            <a:srgbClr val="FFFFFF"/>
                          </a:solidFill>
                          <a:latin typeface="RoxboroughCF Bold"/>
                          <a:ea typeface="RoxboroughCF Bold"/>
                          <a:cs typeface="RoxboroughCF Bold"/>
                          <a:sym typeface="RoxboroughCF Bold"/>
                        </a:rPr>
                        <a:t>Tranzo's Solution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952">
                <a:tc>
                  <a:txBody>
                    <a:bodyPr/>
                    <a:lstStyle/>
                    <a:p>
                      <a:pPr algn="l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Consumers have difficulty tracking their daily expenses.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Tranzo provides expense tracking so users can record and understand their spending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5115">
                <a:tc>
                  <a:txBody>
                    <a:bodyPr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>
                          <a:solidFill>
                            <a:srgbClr val="FFFFFF"/>
                          </a:solidFill>
                          <a:latin typeface="RoxboroughCF"/>
                          <a:ea typeface="RoxboroughCF"/>
                          <a:cs typeface="RoxboroughCF"/>
                          <a:sym typeface="RoxboroughCF"/>
                        </a:rPr>
                        <a:t>Managing different financial activities can be complicated.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FFFFFF"/>
                          </a:solidFill>
                          <a:latin typeface="RoxboroughCF"/>
                          <a:ea typeface="RoxboroughCF"/>
                          <a:cs typeface="RoxboroughCF"/>
                          <a:sym typeface="RoxboroughCF"/>
                        </a:rPr>
                        <a:t>Tranzo provides a simple dashboard where users can access their financial activities from one place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4029">
                <a:tc>
                  <a:txBody>
                    <a:bodyPr/>
                    <a:lstStyle/>
                    <a:p>
                      <a:pPr algn="ctr">
                        <a:lnSpc>
                          <a:spcPts val="5459"/>
                        </a:lnSpc>
                        <a:defRPr/>
                      </a:pPr>
                      <a:r>
                        <a:rPr lang="en-US" sz="3899">
                          <a:solidFill>
                            <a:srgbClr val="FFFFFF"/>
                          </a:solidFill>
                          <a:latin typeface="RoxboroughCF"/>
                          <a:ea typeface="RoxboroughCF"/>
                          <a:cs typeface="RoxboroughCF"/>
                          <a:sym typeface="RoxboroughCF"/>
                        </a:rPr>
                        <a:t> Consumers may have difficulty finding previous transactions.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179"/>
                        </a:lnSpc>
                        <a:defRPr/>
                      </a:pPr>
                      <a:r>
                        <a:rPr lang="en-US" sz="3699">
                          <a:solidFill>
                            <a:srgbClr val="FFFFFF"/>
                          </a:solidFill>
                          <a:latin typeface="RoxboroughCF"/>
                          <a:ea typeface="RoxboroughCF"/>
                          <a:cs typeface="RoxboroughCF"/>
                          <a:sym typeface="RoxboroughCF"/>
                        </a:rPr>
                        <a:t>Tranzo maintains transaction history with amount, type, date, time, and status.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1028700" y="170823"/>
            <a:ext cx="8730258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FFFFFF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Challenges &amp; Solutions </a:t>
            </a:r>
          </a:p>
        </p:txBody>
      </p:sp>
      <p:sp>
        <p:nvSpPr>
          <p:cNvPr id="4" name="Freeform 4"/>
          <p:cNvSpPr/>
          <p:nvPr/>
        </p:nvSpPr>
        <p:spPr>
          <a:xfrm>
            <a:off x="-26639" y="0"/>
            <a:ext cx="1055339" cy="1528944"/>
          </a:xfrm>
          <a:custGeom>
            <a:avLst/>
            <a:gdLst/>
            <a:ahLst/>
            <a:cxnLst/>
            <a:rect l="l" t="t" r="r" b="b"/>
            <a:pathLst>
              <a:path w="1055339" h="1528944">
                <a:moveTo>
                  <a:pt x="0" y="0"/>
                </a:moveTo>
                <a:lnTo>
                  <a:pt x="1055339" y="0"/>
                </a:lnTo>
                <a:lnTo>
                  <a:pt x="1055339" y="1528944"/>
                </a:lnTo>
                <a:lnTo>
                  <a:pt x="0" y="15289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3536"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A97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7418" y="2449095"/>
            <a:ext cx="17513164" cy="8688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79"/>
              </a:lnSpc>
              <a:spcBef>
                <a:spcPct val="0"/>
              </a:spcBef>
            </a:pPr>
            <a:r>
              <a:rPr lang="en-US" sz="6199" b="1">
                <a:solidFill>
                  <a:srgbClr val="FFFFFF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Conclusion:</a:t>
            </a:r>
          </a:p>
          <a:p>
            <a:pPr marL="928379" lvl="1" indent="-464190" algn="just">
              <a:lnSpc>
                <a:spcPts val="6020"/>
              </a:lnSpc>
              <a:spcBef>
                <a:spcPct val="0"/>
              </a:spcBef>
              <a:buFont typeface="Arial"/>
              <a:buChar char="•"/>
            </a:pPr>
            <a:r>
              <a:rPr lang="en-US" sz="4300">
                <a:solidFill>
                  <a:srgbClr val="FFFFFF"/>
                </a:solidFill>
                <a:latin typeface="RoxboroughCF"/>
                <a:ea typeface="RoxboroughCF"/>
                <a:cs typeface="RoxboroughCF"/>
                <a:sym typeface="RoxboroughCF"/>
              </a:rPr>
              <a:t>Tranzo helps users track daily expenses.</a:t>
            </a:r>
          </a:p>
          <a:p>
            <a:pPr marL="928379" lvl="1" indent="-464190" algn="just">
              <a:lnSpc>
                <a:spcPts val="6020"/>
              </a:lnSpc>
              <a:spcBef>
                <a:spcPct val="0"/>
              </a:spcBef>
              <a:buFont typeface="Arial"/>
              <a:buChar char="•"/>
            </a:pPr>
            <a:r>
              <a:rPr lang="en-US" sz="4300">
                <a:solidFill>
                  <a:srgbClr val="FFFFFF"/>
                </a:solidFill>
                <a:latin typeface="RoxboroughCF"/>
                <a:ea typeface="RoxboroughCF"/>
                <a:cs typeface="RoxboroughCF"/>
                <a:sym typeface="RoxboroughCF"/>
              </a:rPr>
              <a:t>Users can record and review their spending in one place.</a:t>
            </a:r>
          </a:p>
          <a:p>
            <a:pPr marL="928379" lvl="1" indent="-464190" algn="just">
              <a:lnSpc>
                <a:spcPts val="6020"/>
              </a:lnSpc>
              <a:spcBef>
                <a:spcPct val="0"/>
              </a:spcBef>
              <a:buFont typeface="Arial"/>
              <a:buChar char="•"/>
            </a:pPr>
            <a:r>
              <a:rPr lang="en-US" sz="4300">
                <a:solidFill>
                  <a:srgbClr val="FFFFFF"/>
                </a:solidFill>
                <a:latin typeface="RoxboroughCF"/>
                <a:ea typeface="RoxboroughCF"/>
                <a:cs typeface="RoxboroughCF"/>
                <a:sym typeface="RoxboroughCF"/>
              </a:rPr>
              <a:t>It increases awareness of spending habits.</a:t>
            </a:r>
          </a:p>
          <a:p>
            <a:pPr marL="928379" lvl="1" indent="-464190" algn="just">
              <a:lnSpc>
                <a:spcPts val="6020"/>
              </a:lnSpc>
              <a:spcBef>
                <a:spcPct val="0"/>
              </a:spcBef>
              <a:buFont typeface="Arial"/>
              <a:buChar char="•"/>
            </a:pPr>
            <a:r>
              <a:rPr lang="en-US" sz="4300">
                <a:solidFill>
                  <a:srgbClr val="FFFFFF"/>
                </a:solidFill>
                <a:latin typeface="RoxboroughCF"/>
                <a:ea typeface="RoxboroughCF"/>
                <a:cs typeface="RoxboroughCF"/>
                <a:sym typeface="RoxboroughCF"/>
              </a:rPr>
              <a:t>It helps users manage their money more effectively.</a:t>
            </a:r>
          </a:p>
          <a:p>
            <a:pPr marL="928379" lvl="1" indent="-464190" algn="just">
              <a:lnSpc>
                <a:spcPts val="6020"/>
              </a:lnSpc>
              <a:spcBef>
                <a:spcPct val="0"/>
              </a:spcBef>
              <a:buFont typeface="Arial"/>
              <a:buChar char="•"/>
            </a:pPr>
            <a:r>
              <a:rPr lang="en-US" sz="4300">
                <a:solidFill>
                  <a:srgbClr val="FFFFFF"/>
                </a:solidFill>
                <a:latin typeface="RoxboroughCF"/>
                <a:ea typeface="RoxboroughCF"/>
                <a:cs typeface="RoxboroughCF"/>
                <a:sym typeface="RoxboroughCF"/>
              </a:rPr>
              <a:t>Overall, Tranzo supports better personal financial management.</a:t>
            </a:r>
          </a:p>
          <a:p>
            <a:pPr algn="just">
              <a:lnSpc>
                <a:spcPts val="6020"/>
              </a:lnSpc>
              <a:spcBef>
                <a:spcPct val="0"/>
              </a:spcBef>
            </a:pPr>
            <a:endParaRPr lang="en-US" sz="4300">
              <a:solidFill>
                <a:srgbClr val="FFFFFF"/>
              </a:solidFill>
              <a:latin typeface="RoxboroughCF"/>
              <a:ea typeface="RoxboroughCF"/>
              <a:cs typeface="RoxboroughCF"/>
              <a:sym typeface="RoxboroughCF"/>
            </a:endParaRPr>
          </a:p>
          <a:p>
            <a:pPr algn="just">
              <a:lnSpc>
                <a:spcPts val="6020"/>
              </a:lnSpc>
              <a:spcBef>
                <a:spcPct val="0"/>
              </a:spcBef>
            </a:pPr>
            <a:endParaRPr lang="en-US" sz="4300">
              <a:solidFill>
                <a:srgbClr val="FFFFFF"/>
              </a:solidFill>
              <a:latin typeface="RoxboroughCF"/>
              <a:ea typeface="RoxboroughCF"/>
              <a:cs typeface="RoxboroughCF"/>
              <a:sym typeface="RoxboroughCF"/>
            </a:endParaRPr>
          </a:p>
          <a:p>
            <a:pPr algn="just">
              <a:lnSpc>
                <a:spcPts val="6020"/>
              </a:lnSpc>
              <a:spcBef>
                <a:spcPct val="0"/>
              </a:spcBef>
            </a:pPr>
            <a:endParaRPr lang="en-US" sz="4300">
              <a:solidFill>
                <a:srgbClr val="FFFFFF"/>
              </a:solidFill>
              <a:latin typeface="RoxboroughCF"/>
              <a:ea typeface="RoxboroughCF"/>
              <a:cs typeface="RoxboroughCF"/>
              <a:sym typeface="RoxboroughCF"/>
            </a:endParaRPr>
          </a:p>
          <a:p>
            <a:pPr algn="just">
              <a:lnSpc>
                <a:spcPts val="6020"/>
              </a:lnSpc>
              <a:spcBef>
                <a:spcPct val="0"/>
              </a:spcBef>
            </a:pPr>
            <a:endParaRPr lang="en-US" sz="4300">
              <a:solidFill>
                <a:srgbClr val="FFFFFF"/>
              </a:solidFill>
              <a:latin typeface="RoxboroughCF"/>
              <a:ea typeface="RoxboroughCF"/>
              <a:cs typeface="RoxboroughCF"/>
              <a:sym typeface="RoxboroughCF"/>
            </a:endParaRPr>
          </a:p>
          <a:p>
            <a:pPr algn="just">
              <a:lnSpc>
                <a:spcPts val="5880"/>
              </a:lnSpc>
              <a:spcBef>
                <a:spcPct val="0"/>
              </a:spcBef>
            </a:pPr>
            <a:endParaRPr lang="en-US" sz="4300">
              <a:solidFill>
                <a:srgbClr val="FFFFFF"/>
              </a:solidFill>
              <a:latin typeface="RoxboroughCF"/>
              <a:ea typeface="RoxboroughCF"/>
              <a:cs typeface="RoxboroughCF"/>
              <a:sym typeface="RoxboroughCF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247167" y="264228"/>
            <a:ext cx="2143102" cy="1528944"/>
          </a:xfrm>
          <a:custGeom>
            <a:avLst/>
            <a:gdLst/>
            <a:ahLst/>
            <a:cxnLst/>
            <a:rect l="l" t="t" r="r" b="b"/>
            <a:pathLst>
              <a:path w="2143102" h="1528944">
                <a:moveTo>
                  <a:pt x="0" y="0"/>
                </a:moveTo>
                <a:lnTo>
                  <a:pt x="2143101" y="0"/>
                </a:lnTo>
                <a:lnTo>
                  <a:pt x="2143101" y="1528944"/>
                </a:lnTo>
                <a:lnTo>
                  <a:pt x="0" y="15289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1536" b="-58717"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A97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342947" y="3081812"/>
            <a:ext cx="1956628" cy="1528944"/>
          </a:xfrm>
          <a:custGeom>
            <a:avLst/>
            <a:gdLst/>
            <a:ahLst/>
            <a:cxnLst/>
            <a:rect l="l" t="t" r="r" b="b"/>
            <a:pathLst>
              <a:path w="1956628" h="1528944">
                <a:moveTo>
                  <a:pt x="0" y="0"/>
                </a:moveTo>
                <a:lnTo>
                  <a:pt x="1956628" y="0"/>
                </a:lnTo>
                <a:lnTo>
                  <a:pt x="1956628" y="1528944"/>
                </a:lnTo>
                <a:lnTo>
                  <a:pt x="0" y="15289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2701" b="-49257"/>
            </a:stretch>
          </a:blipFill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50256B-BE6E-983E-6188-EFE7AECEEBCD}"/>
              </a:ext>
            </a:extLst>
          </p:cNvPr>
          <p:cNvSpPr txBox="1"/>
          <p:nvPr/>
        </p:nvSpPr>
        <p:spPr>
          <a:xfrm>
            <a:off x="6153149" y="8762999"/>
            <a:ext cx="54482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solidFill>
                  <a:srgbClr val="000000"/>
                </a:solidFill>
                <a:ea typeface="+mn-lt"/>
                <a:cs typeface="+mn-lt"/>
                <a:hlinkClick r:id="rId4"/>
              </a:rPr>
              <a:t>https://fahim-cs.github.io/TRANZO/</a:t>
            </a:r>
            <a:endParaRPr lang="en-US">
              <a:ea typeface="+mn-lt"/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Tranzo</dc:title>
  <cp:revision>40</cp:revision>
  <dcterms:created xsi:type="dcterms:W3CDTF">2006-08-16T00:00:00Z</dcterms:created>
  <dcterms:modified xsi:type="dcterms:W3CDTF">2026-09-29T18:24:03Z</dcterms:modified>
  <dc:identifier>DAHWZ3SPdgQ</dc:identifier>
</cp:coreProperties>
</file>